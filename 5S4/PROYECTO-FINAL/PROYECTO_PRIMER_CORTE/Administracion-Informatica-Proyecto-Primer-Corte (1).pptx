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6858000" cx="12191675"/>
  <p:notesSz cx="6858000" cy="12191675"/>
  <p:embeddedFontLst>
    <p:embeddedFont>
      <p:font typeface="Roboto Medium"/>
      <p:regular r:id="rId47"/>
      <p:bold r:id="rId48"/>
      <p:italic r:id="rId49"/>
      <p:boldItalic r:id="rId50"/>
    </p:embeddedFont>
    <p:embeddedFont>
      <p:font typeface="Roboto"/>
      <p:bold r:id="rId51"/>
      <p:boldItalic r:id="rId52"/>
    </p:embeddedFont>
    <p:embeddedFont>
      <p:font typeface="Roboto Light"/>
      <p:regular r:id="rId53"/>
      <p:bold r:id="rId54"/>
      <p:italic r:id="rId55"/>
      <p:boldItalic r:id="rId56"/>
    </p:embeddedFont>
    <p:embeddedFont>
      <p:font typeface="REM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1" roundtripDataSignature="AMtx7mjRlx2ydMHEOPTbomodDYWztCuW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266051-4E03-4071-B909-BAFE84F9F308}">
  <a:tblStyle styleId="{29266051-4E03-4071-B909-BAFE84F9F30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obotoMedium-bold.fntdata"/><Relationship Id="rId47" Type="http://schemas.openxmlformats.org/officeDocument/2006/relationships/font" Target="fonts/RobotoMedium-regular.fntdata"/><Relationship Id="rId49" Type="http://schemas.openxmlformats.org/officeDocument/2006/relationships/font" Target="fonts/Roboto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EM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bold.fntdata"/><Relationship Id="rId50" Type="http://schemas.openxmlformats.org/officeDocument/2006/relationships/font" Target="fonts/RobotoMedium-boldItalic.fntdata"/><Relationship Id="rId53" Type="http://schemas.openxmlformats.org/officeDocument/2006/relationships/font" Target="fonts/RobotoLight-regular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5.xml"/><Relationship Id="rId55" Type="http://schemas.openxmlformats.org/officeDocument/2006/relationships/font" Target="fonts/RobotoLight-italic.fntdata"/><Relationship Id="rId10" Type="http://schemas.openxmlformats.org/officeDocument/2006/relationships/slide" Target="slides/slide4.xml"/><Relationship Id="rId54" Type="http://schemas.openxmlformats.org/officeDocument/2006/relationships/font" Target="fonts/RobotoLight-bold.fntdata"/><Relationship Id="rId13" Type="http://schemas.openxmlformats.org/officeDocument/2006/relationships/slide" Target="slides/slide7.xml"/><Relationship Id="rId57" Type="http://schemas.openxmlformats.org/officeDocument/2006/relationships/font" Target="fonts/REM-regular.fntdata"/><Relationship Id="rId12" Type="http://schemas.openxmlformats.org/officeDocument/2006/relationships/slide" Target="slides/slide6.xml"/><Relationship Id="rId56" Type="http://schemas.openxmlformats.org/officeDocument/2006/relationships/font" Target="fonts/RobotoLight-boldItalic.fntdata"/><Relationship Id="rId15" Type="http://schemas.openxmlformats.org/officeDocument/2006/relationships/slide" Target="slides/slide9.xml"/><Relationship Id="rId59" Type="http://schemas.openxmlformats.org/officeDocument/2006/relationships/font" Target="fonts/REM-italic.fntdata"/><Relationship Id="rId14" Type="http://schemas.openxmlformats.org/officeDocument/2006/relationships/slide" Target="slides/slide8.xml"/><Relationship Id="rId58" Type="http://schemas.openxmlformats.org/officeDocument/2006/relationships/font" Target="fonts/RE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21647e8e418c3f67_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h21647e8e418c3f67_2_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h21647e8e418c3f67_2_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21647e8e418c3f67_2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h21647e8e418c3f67_2_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h21647e8e418c3f67_2_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21647e8e418c3f67_2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h21647e8e418c3f67_2_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h21647e8e418c3f67_2_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21647e8e418c3f67_2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h21647e8e418c3f67_2_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h21647e8e418c3f67_2_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21647e8e418c3f67_2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h21647e8e418c3f67_2_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h21647e8e418c3f67_2_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h21647e8e418c3f67_2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h21647e8e418c3f67_2_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h21647e8e418c3f67_2_1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h21647e8e418c3f67_2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h21647e8e418c3f67_2_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h21647e8e418c3f67_2_1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h21647e8e418c3f67_2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h21647e8e418c3f67_2_1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h21647e8e418c3f67_2_1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h21647e8e418c3f67_2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h21647e8e418c3f67_2_1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h21647e8e418c3f67_2_1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h21647e8e418c3f67_2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h21647e8e418c3f67_2_2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h21647e8e418c3f67_2_2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h21647e8e418c3f67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h21647e8e418c3f67_4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h21647e8e418c3f67_4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h21647e8e418c3f67_4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h21647e8e418c3f67_4_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h21647e8e418c3f67_4_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h21647e8e418c3f67_4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h21647e8e418c3f67_4_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h21647e8e418c3f67_4_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h21647e8e418c3f67_4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h21647e8e418c3f67_4_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h21647e8e418c3f67_4_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h21647e8e418c3f67_4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h21647e8e418c3f67_4_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h21647e8e418c3f67_4_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h21647e8e418c3f67_4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h21647e8e418c3f67_4_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h21647e8e418c3f67_4_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h21647e8e418c3f67_4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h21647e8e418c3f67_4_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h21647e8e418c3f67_4_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h21647e8e418c3f67_4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h21647e8e418c3f67_4_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h21647e8e418c3f67_4_1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h21647e8e418c3f67_4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h21647e8e418c3f67_4_1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h21647e8e418c3f67_4_1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h21647e8e418c3f67_4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h21647e8e418c3f67_4_1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h21647e8e418c3f67_4_1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h21647e8e418c3f67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h21647e8e418c3f67_6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h21647e8e418c3f67_6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h21647e8e418c3f67_6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h21647e8e418c3f67_6_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h21647e8e418c3f67_6_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h21647e8e418c3f67_6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h21647e8e418c3f67_6_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h21647e8e418c3f67_6_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h21647e8e418c3f67_6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h21647e8e418c3f67_6_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h21647e8e418c3f67_6_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h21647e8e418c3f67_6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h21647e8e418c3f67_6_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h21647e8e418c3f67_6_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h21647e8e418c3f67_6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h21647e8e418c3f67_6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h21647e8e418c3f67_6_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h21647e8e418c3f67_6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h21647e8e418c3f67_6_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h21647e8e418c3f67_6_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h21647e8e418c3f67_6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h21647e8e418c3f67_6_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h21647e8e418c3f67_6_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h21647e8e418c3f67_6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h21647e8e418c3f67_6_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h21647e8e418c3f67_6_1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h21647e8e418c3f67_6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h21647e8e418c3f67_6_1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h21647e8e418c3f67_6_1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18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" name="Google Shape;17;h21647e8e418c3f67_2_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h21647e8e418c3f67_2_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18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h21647e8e418c3f67_2_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jp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Relationship Id="rId11" Type="http://schemas.openxmlformats.org/officeDocument/2006/relationships/image" Target="../media/image40.png"/><Relationship Id="rId10" Type="http://schemas.openxmlformats.org/officeDocument/2006/relationships/image" Target="../media/image31.png"/><Relationship Id="rId9" Type="http://schemas.openxmlformats.org/officeDocument/2006/relationships/image" Target="../media/image34.png"/><Relationship Id="rId5" Type="http://schemas.openxmlformats.org/officeDocument/2006/relationships/image" Target="../media/image42.png"/><Relationship Id="rId6" Type="http://schemas.openxmlformats.org/officeDocument/2006/relationships/image" Target="../media/image32.png"/><Relationship Id="rId7" Type="http://schemas.openxmlformats.org/officeDocument/2006/relationships/image" Target="../media/image36.png"/><Relationship Id="rId8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4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43.png"/><Relationship Id="rId5" Type="http://schemas.openxmlformats.org/officeDocument/2006/relationships/image" Target="../media/image5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jpg"/><Relationship Id="rId4" Type="http://schemas.openxmlformats.org/officeDocument/2006/relationships/image" Target="../media/image45.png"/><Relationship Id="rId5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jpg"/><Relationship Id="rId4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jpg"/><Relationship Id="rId4" Type="http://schemas.openxmlformats.org/officeDocument/2006/relationships/image" Target="../media/image5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4.png"/><Relationship Id="rId4" Type="http://schemas.openxmlformats.org/officeDocument/2006/relationships/image" Target="../media/image57.png"/><Relationship Id="rId10" Type="http://schemas.openxmlformats.org/officeDocument/2006/relationships/image" Target="../media/image55.png"/><Relationship Id="rId9" Type="http://schemas.openxmlformats.org/officeDocument/2006/relationships/image" Target="../media/image64.png"/><Relationship Id="rId5" Type="http://schemas.openxmlformats.org/officeDocument/2006/relationships/image" Target="../media/image59.png"/><Relationship Id="rId6" Type="http://schemas.openxmlformats.org/officeDocument/2006/relationships/image" Target="../media/image53.png"/><Relationship Id="rId7" Type="http://schemas.openxmlformats.org/officeDocument/2006/relationships/image" Target="../media/image58.png"/><Relationship Id="rId8" Type="http://schemas.openxmlformats.org/officeDocument/2006/relationships/image" Target="../media/image6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8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9.jpg"/><Relationship Id="rId4" Type="http://schemas.openxmlformats.org/officeDocument/2006/relationships/image" Target="../media/image77.png"/><Relationship Id="rId5" Type="http://schemas.openxmlformats.org/officeDocument/2006/relationships/image" Target="../media/image71.png"/><Relationship Id="rId6" Type="http://schemas.openxmlformats.org/officeDocument/2006/relationships/image" Target="../media/image7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2.png"/><Relationship Id="rId4" Type="http://schemas.openxmlformats.org/officeDocument/2006/relationships/image" Target="../media/image74.png"/><Relationship Id="rId5" Type="http://schemas.openxmlformats.org/officeDocument/2006/relationships/image" Target="../media/image70.png"/><Relationship Id="rId6" Type="http://schemas.openxmlformats.org/officeDocument/2006/relationships/image" Target="../media/image75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6.jpg"/><Relationship Id="rId4" Type="http://schemas.openxmlformats.org/officeDocument/2006/relationships/image" Target="../media/image72.png"/><Relationship Id="rId5" Type="http://schemas.openxmlformats.org/officeDocument/2006/relationships/image" Target="../media/image78.png"/><Relationship Id="rId6" Type="http://schemas.openxmlformats.org/officeDocument/2006/relationships/image" Target="../media/image7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0.png"/><Relationship Id="rId4" Type="http://schemas.openxmlformats.org/officeDocument/2006/relationships/image" Target="../media/image79.png"/><Relationship Id="rId5" Type="http://schemas.openxmlformats.org/officeDocument/2006/relationships/image" Target="../media/image82.png"/><Relationship Id="rId6" Type="http://schemas.openxmlformats.org/officeDocument/2006/relationships/image" Target="../media/image8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3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5.jpg"/><Relationship Id="rId4" Type="http://schemas.openxmlformats.org/officeDocument/2006/relationships/image" Target="../media/image8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5233360" y="1513582"/>
            <a:ext cx="6296860" cy="1122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Roboto Medium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Administración Informática: Proyecto Primer Corte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233360" y="2891830"/>
            <a:ext cx="6906444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Central Legal Advisors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233360" y="3534370"/>
            <a:ext cx="2929360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Roboto Medium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Elaborado por: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233360" y="3985419"/>
            <a:ext cx="2929360" cy="1299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Char char="•"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Gerson Antonio Valdivia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Char char="•"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César José Cerda Maldonado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Char char="•"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Neyli Arlette Madriz Sovalbarro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Char char="•"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Quiezel Sinai Villagra Mena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607210" y="3985419"/>
            <a:ext cx="2929360" cy="1147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Docente:</a:t>
            </a: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MSc. Martín Loza Romo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Grupo:</a:t>
            </a: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5S4-SIS-S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Fecha:</a:t>
            </a: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23/09/2026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3361" y="173264"/>
            <a:ext cx="430530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661475" y="1111647"/>
            <a:ext cx="10868745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Roboto Medium"/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Objetivo General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442" y="2045097"/>
            <a:ext cx="6227408" cy="352891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8257274" y="2387402"/>
            <a:ext cx="3279197" cy="2844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Analizar la estructura organizacional y el rol del área de Tecnologías de la Información de Central Legal Advisors, con el propósito de caracterizar su modelo de gestión, comprender la alineación entre los objetivos del negocio y la función informática, y establecer las bases para la posterior evaluación de la infraestructura, las políticas y la planificación informática en el marco de la asignatura </a:t>
            </a:r>
            <a:r>
              <a:rPr b="1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Administración Informática</a:t>
            </a: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002189" y="2249686"/>
            <a:ext cx="19050" cy="3119636"/>
          </a:xfrm>
          <a:prstGeom prst="roundRect">
            <a:avLst>
              <a:gd fmla="val 49999" name="adj"/>
            </a:avLst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661475" y="990997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 Medium"/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Objetivos Específicos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" name="Google Shape;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766094"/>
            <a:ext cx="5366112" cy="1863328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3224033" y="1872357"/>
            <a:ext cx="240996" cy="301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41156" y="2403673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Estrategia y Misión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841156" y="2736552"/>
            <a:ext cx="5006751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Describir los objetivos estratégicos, la misión y la visión de Central Legal Advisors, estableciendo el vínculo entre la estrategia de negocio y las necesidades de soporte tecnológico.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4108" y="1766094"/>
            <a:ext cx="5366112" cy="186332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8726666" y="1872357"/>
            <a:ext cx="240996" cy="301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343789" y="2403673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Organigramas Formales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343789" y="2736552"/>
            <a:ext cx="5006751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Representar gráficamente la estructura organizacional de la empresa y del Departamento de Informática, elaborando organigramas formales a partir del análisis del entorno operativo y tecnológico.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5" y="3765947"/>
            <a:ext cx="5366112" cy="210105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3224033" y="3872210"/>
            <a:ext cx="240996" cy="301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41156" y="4403527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Funciones de TI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41156" y="4736405"/>
            <a:ext cx="5006751" cy="950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Definir y documentar las funciones principales del Departamento de Informática, alineadas con la gestión de sistemas, automatización, seguridad de la información, continuidad operativa y soporte a los procesos de intake legal.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4108" y="3765947"/>
            <a:ext cx="5366112" cy="210105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8726666" y="3872210"/>
            <a:ext cx="240996" cy="301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4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343789" y="4403527"/>
            <a:ext cx="500675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Marco Organizacional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343789" y="4736405"/>
            <a:ext cx="5006751" cy="950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Establecer un marco de comprensión organizacional que permita, en las siguientes etapas del proyecto, evaluar la infraestructura informática, las políticas de uso y la planificación tecnológica bajo criterios de Administración Informática.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661475" y="1425476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 Medium"/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Objetivos de la Organización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61475" y="2200573"/>
            <a:ext cx="10868745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Central Legal Advisors tiene como propósito central transformar el proceso de recepción y gestión de leads legales en un sistema estructurado de ventas y conversión.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829620"/>
            <a:ext cx="401627" cy="40163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/>
          <p:nvPr/>
        </p:nvSpPr>
        <p:spPr>
          <a:xfrm>
            <a:off x="1233754" y="2829620"/>
            <a:ext cx="2936802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Optimización del Intake Legal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233754" y="3162498"/>
            <a:ext cx="2936802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Sistemas personalizados de admisión, calificación y seguimiento de prospectos.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1208" y="2829620"/>
            <a:ext cx="401627" cy="40163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4913487" y="2829620"/>
            <a:ext cx="293690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Maximizar Conversión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913487" y="3162498"/>
            <a:ext cx="2936901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Automatización, scripts estructurados y seguimiento continuo hasta 90 días para convertir leads en casos firmados.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" name="Google Shape;8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21040" y="2829620"/>
            <a:ext cx="401627" cy="40163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/>
          <p:nvPr/>
        </p:nvSpPr>
        <p:spPr>
          <a:xfrm>
            <a:off x="8593319" y="2829620"/>
            <a:ext cx="2936802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Warm Transfer y Signing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593319" y="3162498"/>
            <a:ext cx="2936802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Servicios de transferencia y firma de casos según el modelo de servicio requerido por cada firma cliente.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475" y="4148733"/>
            <a:ext cx="401627" cy="40163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1233754" y="4148733"/>
            <a:ext cx="2936802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Herramientas Tecnológicas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233754" y="4481612"/>
            <a:ext cx="2936802" cy="950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CRM, dialers, dashboards, inteligencia artificial y conversation intelligence para medir KPIs, ROI y desempeño en tiempo real.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41208" y="4148733"/>
            <a:ext cx="401627" cy="40163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4913487" y="4148733"/>
            <a:ext cx="293690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Confidencialidad y Experiencia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913487" y="4481612"/>
            <a:ext cx="2936901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Experiencia inicial efectiva y profesional para clientes potenciales, protegiendo la información sensible gestionada.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5233360" y="1360587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Roboto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Misión y Visión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097236" y="2234704"/>
            <a:ext cx="3190101" cy="3262709"/>
          </a:xfrm>
          <a:prstGeom prst="roundRect">
            <a:avLst>
              <a:gd fmla="val 4266" name="adj"/>
            </a:avLst>
          </a:prstGeom>
          <a:solidFill>
            <a:srgbClr val="5A6ED8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5286243" y="2423716"/>
            <a:ext cx="281208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Misión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286243" y="2908002"/>
            <a:ext cx="2812087" cy="241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Proveer a las firmas legales un sistema de intake de clase mundial que transforme consultas en casos firmados, eliminando los cuellos de botella operativos y permitiendo que los abogados se enfoquen en ejercer el derecho.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618719" y="2423716"/>
            <a:ext cx="291785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Visión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618719" y="2908002"/>
            <a:ext cx="291785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Convertirse en el socio estratégico líder en la optimización de procesos de intake legal, estableciendo el estándar en sistemas de ventas y conversión dentro de la industria jurídica.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661475" y="781745"/>
            <a:ext cx="10868745" cy="56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Roboto Medium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Estructura Organizacional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61475" y="1684040"/>
            <a:ext cx="10868745" cy="84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Central Legal Advisors opera bajo un modelo funcional orientado a procesos. La estructura integra áreas de ventas (intake), tecnología, automatización y análisis de datos, con una dirección estratégica que define la relación con las firmas clientes y los objetivos de conversión.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61475" y="2716213"/>
            <a:ext cx="5349047" cy="1594743"/>
          </a:xfrm>
          <a:prstGeom prst="roundRect">
            <a:avLst>
              <a:gd fmla="val 472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847307" y="2902049"/>
            <a:ext cx="49773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Equipo de Intake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47307" y="3284835"/>
            <a:ext cx="4977383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Primer contacto, gestión de llamadas entrantes y salientes, y captura inicial de información de leads.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181074" y="2716213"/>
            <a:ext cx="5349146" cy="1594743"/>
          </a:xfrm>
          <a:prstGeom prst="roundRect">
            <a:avLst>
              <a:gd fmla="val 472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366906" y="2902049"/>
            <a:ext cx="4977482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Equipo de Qualifying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366906" y="3284835"/>
            <a:ext cx="4977482" cy="84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Evaluación de leads según criterios específicos de cada firma legal; transferencia (warm transfer) de casos calificados al cliente.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61475" y="4481513"/>
            <a:ext cx="5349047" cy="1594743"/>
          </a:xfrm>
          <a:prstGeom prst="roundRect">
            <a:avLst>
              <a:gd fmla="val 472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847307" y="4667349"/>
            <a:ext cx="497738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Equipo de Signing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47307" y="5050135"/>
            <a:ext cx="4977383" cy="84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Cierre de casos en nombre de la firma legal, actuando como equipo de ventas completo que convierte leads en clientes firmados.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181074" y="4481513"/>
            <a:ext cx="5349146" cy="1594743"/>
          </a:xfrm>
          <a:prstGeom prst="roundRect">
            <a:avLst>
              <a:gd fmla="val 472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6366906" y="4667349"/>
            <a:ext cx="4977482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Área Tecnológica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366906" y="5050135"/>
            <a:ext cx="4977482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Responsable del CRM, automatización, dashboards, inteligencia artificial y soporte a la infraestructura cloud.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661475" y="525066"/>
            <a:ext cx="10868745" cy="42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Roboto Medium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Organigrama del Departamento de Informática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61475" y="2956917"/>
            <a:ext cx="5266697" cy="760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Área Tecnológica constituye una unidad de soporte crítico para la operación de Central Legal Advisors. Aunque en la práctica el equipo es reducido (aproximadamente cinco colaboradores con acceso a consolas de administración), se propone una estructura funcional clara que permita delimitar responsabilidades.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61475" y="3829348"/>
            <a:ext cx="5266697" cy="628650"/>
          </a:xfrm>
          <a:prstGeom prst="roundRect">
            <a:avLst>
              <a:gd fmla="val 9185" name="adj"/>
            </a:avLst>
          </a:prstGeom>
          <a:solidFill>
            <a:srgbClr val="1825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889" y="3983038"/>
            <a:ext cx="171843" cy="13741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/>
          <p:nvPr/>
        </p:nvSpPr>
        <p:spPr>
          <a:xfrm>
            <a:off x="1108146" y="3953669"/>
            <a:ext cx="4682611" cy="380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 estructura propuesta permite escalar el equipo de TI conforme crezcan las operaciones de la empresa.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" name="Google Shape;13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1533" y="1217017"/>
            <a:ext cx="5003278" cy="500340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5233360" y="1162745"/>
            <a:ext cx="6296860" cy="886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Roboto Medium"/>
              <a:buNone/>
            </a:pPr>
            <a:r>
              <a:rPr b="0" i="0" lang="en-US" sz="27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Funciones del Departamento de Informática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233360" y="2091234"/>
            <a:ext cx="629686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Gestión de Sistemas de Información y Automatización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2472134"/>
            <a:ext cx="6296860" cy="100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/>
          <p:nvPr/>
        </p:nvSpPr>
        <p:spPr>
          <a:xfrm>
            <a:off x="5470289" y="2632869"/>
            <a:ext cx="589920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Administración del CRM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470289" y="2918023"/>
            <a:ext cx="5899201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Administrar y configurar el CRM para la gestión de leads, pipeline de ventas y seguimiento de clientes potenciales.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3581896"/>
            <a:ext cx="6296860" cy="100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5470289" y="3742630"/>
            <a:ext cx="589920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Automatización e Integraciones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70289" y="4027785"/>
            <a:ext cx="5899201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Diseñar, mantener y monitorear flujos de automatización (follow-up hasta 90 días) e integraciones vía API con sistemas de telefonía (Twilio / dialers).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4691658"/>
            <a:ext cx="6296860" cy="100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/>
          <p:nvPr/>
        </p:nvSpPr>
        <p:spPr>
          <a:xfrm>
            <a:off x="5470289" y="4852392"/>
            <a:ext cx="589920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Inteligencia Artificial y Conversation Intelligence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470289" y="5137547"/>
            <a:ext cx="5899201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Gestionar herramientas de conversation intelligence e inteligencia artificial aplicadas al análisis de calidad de llamadas y desempeño de agentes.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661475" y="1139527"/>
            <a:ext cx="10868745" cy="4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Roboto Medium"/>
              <a:buNone/>
            </a:pPr>
            <a:r>
              <a:rPr b="0" i="0" lang="en-US" sz="27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Infraestructura Cloud, Conectividad y Continuidad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9419" y="2254647"/>
            <a:ext cx="5207663" cy="295106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/>
          <p:nvPr/>
        </p:nvSpPr>
        <p:spPr>
          <a:xfrm>
            <a:off x="7957244" y="1861542"/>
            <a:ext cx="318881" cy="318889"/>
          </a:xfrm>
          <a:prstGeom prst="roundRect">
            <a:avLst>
              <a:gd fmla="val 18672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8382386" y="1910259"/>
            <a:ext cx="315408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Amazon Web Services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8382386" y="2237978"/>
            <a:ext cx="3154085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Administrar los servicios en AWS (cómputo, almacenamiento de grabaciones y contratos, escritorios virtuales) y velar por el cumplimiento de los SLA.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7957244" y="3244354"/>
            <a:ext cx="318881" cy="318889"/>
          </a:xfrm>
          <a:prstGeom prst="roundRect">
            <a:avLst>
              <a:gd fmla="val 18672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8382386" y="3293070"/>
            <a:ext cx="315408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Red Corporativa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382386" y="3620790"/>
            <a:ext cx="3154085" cy="595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Gestionar la red local corporativa, la configuración de los equipos en la oficina y la segmentación de la red interna.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7957244" y="4428728"/>
            <a:ext cx="318881" cy="318889"/>
          </a:xfrm>
          <a:prstGeom prst="roundRect">
            <a:avLst>
              <a:gd fmla="val 18672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8382386" y="4477445"/>
            <a:ext cx="315408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Continuidad del Negocio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8382386" y="4805164"/>
            <a:ext cx="3154085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Definir, ejecutar y probar procedimientos de respaldo y recuperación de información; elaborar y mantener el Plan de Continuidad del Negocio y el DRP.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5" name="Google Shape;1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/>
          <p:nvPr/>
        </p:nvSpPr>
        <p:spPr>
          <a:xfrm>
            <a:off x="661475" y="1330920"/>
            <a:ext cx="6296860" cy="826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Roboto Medium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Seguridad de la Información y Control de Accesos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61475" y="2296716"/>
            <a:ext cx="3102096" cy="1748830"/>
          </a:xfrm>
          <a:prstGeom prst="roundRect">
            <a:avLst>
              <a:gd fmla="val 3178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800080" y="2435324"/>
            <a:ext cx="396865" cy="396875"/>
          </a:xfrm>
          <a:prstGeom prst="ellipse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218" y="2544465"/>
            <a:ext cx="178589" cy="17859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0"/>
          <p:cNvSpPr/>
          <p:nvPr/>
        </p:nvSpPr>
        <p:spPr>
          <a:xfrm>
            <a:off x="800080" y="2924770"/>
            <a:ext cx="2824886" cy="206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 Medium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Gestión de Identidades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800080" y="3187005"/>
            <a:ext cx="2824886" cy="719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Gestionar identidades, roles y permisos en el CRM, sistemas de llamadas y consolas cloud, aplicando el principio de mínimo privilegio y la segregación de funciones.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3856139" y="2296716"/>
            <a:ext cx="3102195" cy="1748830"/>
          </a:xfrm>
          <a:prstGeom prst="roundRect">
            <a:avLst>
              <a:gd fmla="val 3178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3994745" y="2435324"/>
            <a:ext cx="396865" cy="396875"/>
          </a:xfrm>
          <a:prstGeom prst="ellipse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3882" y="2544465"/>
            <a:ext cx="178589" cy="17859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/>
          <p:nvPr/>
        </p:nvSpPr>
        <p:spPr>
          <a:xfrm>
            <a:off x="3994745" y="2924770"/>
            <a:ext cx="2824985" cy="206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 Medium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Autenticación y Accesos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3994745" y="3187005"/>
            <a:ext cx="2824985" cy="719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Implementar y supervisar mecanismos de autenticación (incluyendo MFA), políticas de contraseñas y control de acceso a grabaciones y datos sensibles.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61475" y="4138116"/>
            <a:ext cx="6296860" cy="1388864"/>
          </a:xfrm>
          <a:prstGeom prst="roundRect">
            <a:avLst>
              <a:gd fmla="val 4001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800080" y="4276725"/>
            <a:ext cx="396865" cy="396875"/>
          </a:xfrm>
          <a:prstGeom prst="ellipse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9218" y="4385866"/>
            <a:ext cx="178589" cy="17859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0"/>
          <p:cNvSpPr/>
          <p:nvPr/>
        </p:nvSpPr>
        <p:spPr>
          <a:xfrm>
            <a:off x="800080" y="4766171"/>
            <a:ext cx="6019649" cy="206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 Medium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Monitoreo y Cumplimiento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800080" y="5028406"/>
            <a:ext cx="6019649" cy="3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Monitorear logs, eventos de seguridad y métricas de disponibilidad; apoyar la gestión de incidentes y el cumplimiento de la normativa de protección de datos.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21647e8e418c3f67_2_6"/>
          <p:cNvSpPr/>
          <p:nvPr/>
        </p:nvSpPr>
        <p:spPr>
          <a:xfrm>
            <a:off x="661475" y="1966416"/>
            <a:ext cx="10868745" cy="5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50"/>
              <a:buFont typeface="Roboto Medium"/>
              <a:buNone/>
            </a:pPr>
            <a:r>
              <a:rPr b="0" i="0" lang="en-US" sz="32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Infraestructura Informática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h21647e8e418c3f67_2_6"/>
          <p:cNvSpPr/>
          <p:nvPr/>
        </p:nvSpPr>
        <p:spPr>
          <a:xfrm>
            <a:off x="661475" y="2549227"/>
            <a:ext cx="10868745" cy="413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Roboto Medium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Central Legal Advisors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h21647e8e418c3f67_2_6"/>
          <p:cNvSpPr/>
          <p:nvPr/>
        </p:nvSpPr>
        <p:spPr>
          <a:xfrm>
            <a:off x="661475" y="3210719"/>
            <a:ext cx="10868745" cy="1230213"/>
          </a:xfrm>
          <a:prstGeom prst="roundRect">
            <a:avLst>
              <a:gd fmla="val 5647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h21647e8e418c3f67_2_6"/>
          <p:cNvSpPr/>
          <p:nvPr/>
        </p:nvSpPr>
        <p:spPr>
          <a:xfrm>
            <a:off x="667825" y="3217069"/>
            <a:ext cx="3618616" cy="1217513"/>
          </a:xfrm>
          <a:custGeom>
            <a:rect b="b" l="l" r="r" t="t"/>
            <a:pathLst>
              <a:path extrusionOk="0" h="1217513" w="3618616">
                <a:moveTo>
                  <a:pt x="57887" y="0"/>
                </a:moveTo>
                <a:lnTo>
                  <a:pt x="3618616" y="0"/>
                </a:lnTo>
                <a:lnTo>
                  <a:pt x="3618616" y="1217513"/>
                </a:lnTo>
                <a:lnTo>
                  <a:pt x="57887" y="1217513"/>
                </a:lnTo>
                <a:cubicBezTo>
                  <a:pt x="25917" y="1217513"/>
                  <a:pt x="0" y="1191596"/>
                  <a:pt x="0" y="1159625"/>
                </a:cubicBezTo>
                <a:lnTo>
                  <a:pt x="0" y="57888"/>
                </a:lnTo>
                <a:cubicBezTo>
                  <a:pt x="0" y="25917"/>
                  <a:pt x="25917" y="0"/>
                  <a:pt x="57887" y="0"/>
                </a:cubicBezTo>
                <a:close/>
              </a:path>
            </a:pathLst>
          </a:custGeom>
          <a:solidFill>
            <a:srgbClr val="1825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h21647e8e418c3f67_2_6"/>
          <p:cNvSpPr/>
          <p:nvPr/>
        </p:nvSpPr>
        <p:spPr>
          <a:xfrm>
            <a:off x="833119" y="3382367"/>
            <a:ext cx="3288027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Misión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h21647e8e418c3f67_2_6"/>
          <p:cNvSpPr/>
          <p:nvPr/>
        </p:nvSpPr>
        <p:spPr>
          <a:xfrm>
            <a:off x="833119" y="3740051"/>
            <a:ext cx="3288027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Servicios tecnológicos seguros, estables y orientados a la automatización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h21647e8e418c3f67_2_6"/>
          <p:cNvSpPr/>
          <p:nvPr/>
        </p:nvSpPr>
        <p:spPr>
          <a:xfrm>
            <a:off x="4286440" y="3217069"/>
            <a:ext cx="3618715" cy="1217513"/>
          </a:xfrm>
          <a:prstGeom prst="rect">
            <a:avLst/>
          </a:prstGeom>
          <a:solidFill>
            <a:srgbClr val="1825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h21647e8e418c3f67_2_6"/>
          <p:cNvSpPr/>
          <p:nvPr/>
        </p:nvSpPr>
        <p:spPr>
          <a:xfrm>
            <a:off x="4286440" y="3217069"/>
            <a:ext cx="19050" cy="1217513"/>
          </a:xfrm>
          <a:prstGeom prst="roundRect">
            <a:avLst>
              <a:gd fmla="val 49999" name="adj"/>
            </a:avLst>
          </a:prstGeom>
          <a:solidFill>
            <a:srgbClr val="313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h21647e8e418c3f67_2_6"/>
          <p:cNvSpPr/>
          <p:nvPr/>
        </p:nvSpPr>
        <p:spPr>
          <a:xfrm>
            <a:off x="4451735" y="3382367"/>
            <a:ext cx="328812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Visión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h21647e8e418c3f67_2_6"/>
          <p:cNvSpPr/>
          <p:nvPr/>
        </p:nvSpPr>
        <p:spPr>
          <a:xfrm>
            <a:off x="4451735" y="3740051"/>
            <a:ext cx="3288126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Habilitador estratégico del negocio con estándares internacionales de TI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h21647e8e418c3f67_2_6"/>
          <p:cNvSpPr/>
          <p:nvPr/>
        </p:nvSpPr>
        <p:spPr>
          <a:xfrm>
            <a:off x="7905155" y="3217069"/>
            <a:ext cx="3618715" cy="1217513"/>
          </a:xfrm>
          <a:custGeom>
            <a:rect b="b" l="l" r="r" t="t"/>
            <a:pathLst>
              <a:path extrusionOk="0" h="1217513" w="3618715">
                <a:moveTo>
                  <a:pt x="0" y="0"/>
                </a:moveTo>
                <a:lnTo>
                  <a:pt x="3560828" y="0"/>
                </a:lnTo>
                <a:cubicBezTo>
                  <a:pt x="3576181" y="0"/>
                  <a:pt x="3590904" y="6099"/>
                  <a:pt x="3601760" y="16955"/>
                </a:cubicBezTo>
                <a:cubicBezTo>
                  <a:pt x="3612616" y="27811"/>
                  <a:pt x="3618715" y="42535"/>
                  <a:pt x="3618715" y="57888"/>
                </a:cubicBezTo>
                <a:lnTo>
                  <a:pt x="3618715" y="1159625"/>
                </a:lnTo>
                <a:cubicBezTo>
                  <a:pt x="3618715" y="1191596"/>
                  <a:pt x="3592798" y="1217513"/>
                  <a:pt x="3560828" y="1217513"/>
                </a:cubicBezTo>
                <a:lnTo>
                  <a:pt x="0" y="1217513"/>
                </a:lnTo>
                <a:lnTo>
                  <a:pt x="0" y="0"/>
                </a:lnTo>
                <a:close/>
              </a:path>
            </a:pathLst>
          </a:custGeom>
          <a:solidFill>
            <a:srgbClr val="1825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h21647e8e418c3f67_2_6"/>
          <p:cNvSpPr/>
          <p:nvPr/>
        </p:nvSpPr>
        <p:spPr>
          <a:xfrm>
            <a:off x="7905155" y="3217069"/>
            <a:ext cx="19050" cy="1217513"/>
          </a:xfrm>
          <a:prstGeom prst="roundRect">
            <a:avLst>
              <a:gd fmla="val 49999" name="adj"/>
            </a:avLst>
          </a:prstGeom>
          <a:solidFill>
            <a:srgbClr val="313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h21647e8e418c3f67_2_6"/>
          <p:cNvSpPr/>
          <p:nvPr/>
        </p:nvSpPr>
        <p:spPr>
          <a:xfrm>
            <a:off x="8070450" y="3382367"/>
            <a:ext cx="328812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Alcance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h21647e8e418c3f67_2_6"/>
          <p:cNvSpPr/>
          <p:nvPr/>
        </p:nvSpPr>
        <p:spPr>
          <a:xfrm>
            <a:off x="8070450" y="3740051"/>
            <a:ext cx="3288126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Intake · Qualifying · Signing · Análisis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h21647e8e418c3f67_2_6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21647e8e418c3f67_2_26"/>
          <p:cNvSpPr/>
          <p:nvPr/>
        </p:nvSpPr>
        <p:spPr>
          <a:xfrm>
            <a:off x="661475" y="531019"/>
            <a:ext cx="10868745" cy="5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50"/>
              <a:buFont typeface="Roboto Medium"/>
              <a:buNone/>
            </a:pPr>
            <a:r>
              <a:rPr b="0" i="0" lang="en-US" sz="32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Misión y Visión del Área de Tecnología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h21647e8e418c3f67_2_26"/>
          <p:cNvSpPr/>
          <p:nvPr/>
        </p:nvSpPr>
        <p:spPr>
          <a:xfrm>
            <a:off x="542415" y="1295797"/>
            <a:ext cx="5470785" cy="5031184"/>
          </a:xfrm>
          <a:prstGeom prst="roundRect">
            <a:avLst>
              <a:gd fmla="val 2367" name="adj"/>
            </a:avLst>
          </a:prstGeom>
          <a:solidFill>
            <a:srgbClr val="5A6ED8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h21647e8e418c3f67_2_26"/>
          <p:cNvSpPr/>
          <p:nvPr/>
        </p:nvSpPr>
        <p:spPr>
          <a:xfrm>
            <a:off x="707710" y="1461095"/>
            <a:ext cx="514019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Misión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h21647e8e418c3f67_2_26"/>
          <p:cNvSpPr/>
          <p:nvPr/>
        </p:nvSpPr>
        <p:spPr>
          <a:xfrm>
            <a:off x="707710" y="1884859"/>
            <a:ext cx="5140196" cy="1058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Proveer servicios tecnológicos seguros, estables y orientados a la automatización, que soporten de manera eficiente los procesos de intake, calificación, firma de casos y análisis de datos, garantizando </a:t>
            </a:r>
            <a:r>
              <a:rPr b="1" i="0" lang="en-U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confidencialidad, integridad y disponibilidad</a:t>
            </a:r>
            <a:r>
              <a:rPr b="0" i="0" lang="en-U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de la información.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h21647e8e418c3f67_2_26"/>
          <p:cNvSpPr/>
          <p:nvPr/>
        </p:nvSpPr>
        <p:spPr>
          <a:xfrm>
            <a:off x="6303904" y="1461095"/>
            <a:ext cx="523266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Visión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h21647e8e418c3f67_2_26"/>
          <p:cNvSpPr/>
          <p:nvPr/>
        </p:nvSpPr>
        <p:spPr>
          <a:xfrm>
            <a:off x="6303904" y="1884859"/>
            <a:ext cx="5232666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Ser reconocida como un </a:t>
            </a:r>
            <a:r>
              <a:rPr b="1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habilitador estratégico del negocio</a:t>
            </a: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, mediante la implementación de tecnologías innovadoras y la adopción de estándares internacionales de seguridad y gestión de servicios de TI.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h21647e8e418c3f67_2_26"/>
          <p:cNvSpPr/>
          <p:nvPr/>
        </p:nvSpPr>
        <p:spPr>
          <a:xfrm>
            <a:off x="6303904" y="2906018"/>
            <a:ext cx="5232666" cy="19050"/>
          </a:xfrm>
          <a:prstGeom prst="roundRect">
            <a:avLst>
              <a:gd fmla="val 49999" name="adj"/>
            </a:avLst>
          </a:prstGeom>
          <a:solidFill>
            <a:srgbClr val="CFD0D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h21647e8e418c3f67_2_26"/>
          <p:cNvSpPr/>
          <p:nvPr/>
        </p:nvSpPr>
        <p:spPr>
          <a:xfrm>
            <a:off x="6303904" y="3152378"/>
            <a:ext cx="523266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Principios Rectores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h21647e8e418c3f67_2_26"/>
          <p:cNvSpPr/>
          <p:nvPr/>
        </p:nvSpPr>
        <p:spPr>
          <a:xfrm>
            <a:off x="6303904" y="3596878"/>
            <a:ext cx="2533686" cy="1321693"/>
          </a:xfrm>
          <a:prstGeom prst="roundRect">
            <a:avLst>
              <a:gd fmla="val 5256" name="adj"/>
            </a:avLst>
          </a:prstGeom>
          <a:solidFill>
            <a:srgbClr val="000018">
              <a:alpha val="94902"/>
            </a:srgbClr>
          </a:solidFill>
          <a:ln cap="flat" cmpd="sng" w="19050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h21647e8e418c3f67_2_26"/>
          <p:cNvSpPr/>
          <p:nvPr/>
        </p:nvSpPr>
        <p:spPr>
          <a:xfrm>
            <a:off x="6488248" y="3781227"/>
            <a:ext cx="2164998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Seguridad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h21647e8e418c3f67_2_26"/>
          <p:cNvSpPr/>
          <p:nvPr/>
        </p:nvSpPr>
        <p:spPr>
          <a:xfrm>
            <a:off x="6488248" y="4204990"/>
            <a:ext cx="2164998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Confidencialidad e integridad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h21647e8e418c3f67_2_26"/>
          <p:cNvSpPr/>
          <p:nvPr/>
        </p:nvSpPr>
        <p:spPr>
          <a:xfrm>
            <a:off x="9002884" y="3596878"/>
            <a:ext cx="2533686" cy="1321693"/>
          </a:xfrm>
          <a:prstGeom prst="roundRect">
            <a:avLst>
              <a:gd fmla="val 5256" name="adj"/>
            </a:avLst>
          </a:prstGeom>
          <a:solidFill>
            <a:srgbClr val="000018">
              <a:alpha val="94902"/>
            </a:srgbClr>
          </a:solidFill>
          <a:ln cap="flat" cmpd="sng" w="19050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h21647e8e418c3f67_2_26"/>
          <p:cNvSpPr/>
          <p:nvPr/>
        </p:nvSpPr>
        <p:spPr>
          <a:xfrm>
            <a:off x="9187228" y="3781227"/>
            <a:ext cx="2164998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Automatización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h21647e8e418c3f67_2_26"/>
          <p:cNvSpPr/>
          <p:nvPr/>
        </p:nvSpPr>
        <p:spPr>
          <a:xfrm>
            <a:off x="9187228" y="4204990"/>
            <a:ext cx="2164998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Eficiencia operativa continua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h21647e8e418c3f67_2_26"/>
          <p:cNvSpPr/>
          <p:nvPr/>
        </p:nvSpPr>
        <p:spPr>
          <a:xfrm>
            <a:off x="6303904" y="5083870"/>
            <a:ext cx="5232666" cy="1057077"/>
          </a:xfrm>
          <a:prstGeom prst="roundRect">
            <a:avLst>
              <a:gd fmla="val 6571" name="adj"/>
            </a:avLst>
          </a:prstGeom>
          <a:solidFill>
            <a:srgbClr val="000018">
              <a:alpha val="94902"/>
            </a:srgbClr>
          </a:solidFill>
          <a:ln cap="flat" cmpd="sng" w="19050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h21647e8e418c3f67_2_26"/>
          <p:cNvSpPr/>
          <p:nvPr/>
        </p:nvSpPr>
        <p:spPr>
          <a:xfrm>
            <a:off x="6488248" y="5268218"/>
            <a:ext cx="4863978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Innovación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h21647e8e418c3f67_2_26"/>
          <p:cNvSpPr/>
          <p:nvPr/>
        </p:nvSpPr>
        <p:spPr>
          <a:xfrm>
            <a:off x="6488248" y="5691981"/>
            <a:ext cx="4863978" cy="264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Adopción de estándares internacionales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h21647e8e418c3f67_2_26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21647e8e418c3f67_2_47"/>
          <p:cNvSpPr/>
          <p:nvPr/>
        </p:nvSpPr>
        <p:spPr>
          <a:xfrm>
            <a:off x="661475" y="1284486"/>
            <a:ext cx="10868745" cy="5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50"/>
              <a:buFont typeface="Roboto Medium"/>
              <a:buNone/>
            </a:pPr>
            <a:r>
              <a:rPr b="0" i="0" lang="en-US" sz="32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Empresa Intensiva en Tecnología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h21647e8e418c3f67_2_47"/>
          <p:cNvSpPr/>
          <p:nvPr/>
        </p:nvSpPr>
        <p:spPr>
          <a:xfrm>
            <a:off x="661475" y="2131913"/>
            <a:ext cx="10868745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La operación diaria de Central Legal Advisors depende de manera crítica de sistemas en la nube, CRM, dialers y herramientas de automatización e IA. La estructura funcional está orientada a tres procesos centrales.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h21647e8e418c3f67_2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847181"/>
            <a:ext cx="3622882" cy="66149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h21647e8e418c3f67_2_47"/>
          <p:cNvSpPr/>
          <p:nvPr/>
        </p:nvSpPr>
        <p:spPr>
          <a:xfrm>
            <a:off x="826769" y="3673971"/>
            <a:ext cx="3292293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Intake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h21647e8e418c3f67_2_47"/>
          <p:cNvSpPr/>
          <p:nvPr/>
        </p:nvSpPr>
        <p:spPr>
          <a:xfrm>
            <a:off x="826769" y="4031655"/>
            <a:ext cx="3292293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Captación y registro inicial de leads mediante CRM y canales digitales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h21647e8e418c3f67_2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4357" y="2847181"/>
            <a:ext cx="3622882" cy="66149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h21647e8e418c3f67_2_47"/>
          <p:cNvSpPr/>
          <p:nvPr/>
        </p:nvSpPr>
        <p:spPr>
          <a:xfrm>
            <a:off x="4449651" y="3673971"/>
            <a:ext cx="3292293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Qualifying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h21647e8e418c3f67_2_47"/>
          <p:cNvSpPr/>
          <p:nvPr/>
        </p:nvSpPr>
        <p:spPr>
          <a:xfrm>
            <a:off x="4449651" y="4031655"/>
            <a:ext cx="3292293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Calificación de casos con soporte de dialers, IA y dashboards en tiempo real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h21647e8e418c3f67_2_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7239" y="2847181"/>
            <a:ext cx="3622882" cy="66149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h21647e8e418c3f67_2_47"/>
          <p:cNvSpPr/>
          <p:nvPr/>
        </p:nvSpPr>
        <p:spPr>
          <a:xfrm>
            <a:off x="8072533" y="3673971"/>
            <a:ext cx="3292293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Signing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h21647e8e418c3f67_2_47"/>
          <p:cNvSpPr/>
          <p:nvPr/>
        </p:nvSpPr>
        <p:spPr>
          <a:xfrm>
            <a:off x="8072533" y="4031655"/>
            <a:ext cx="3292293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Firma electrónica de contratos y gestión documental integrada con CRM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h21647e8e418c3f67_2_47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21647e8e418c3f67_2_65"/>
          <p:cNvSpPr/>
          <p:nvPr/>
        </p:nvSpPr>
        <p:spPr>
          <a:xfrm>
            <a:off x="661475" y="956568"/>
            <a:ext cx="10868745" cy="5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50"/>
              <a:buFont typeface="Roboto Medium"/>
              <a:buNone/>
            </a:pPr>
            <a:r>
              <a:rPr b="0" i="0" lang="en-US" sz="32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Procesos Clave Soportados por Tecnología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8" name="Google Shape;258;h21647e8e418c3f67_2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803995"/>
            <a:ext cx="5351725" cy="125561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h21647e8e418c3f67_2_65"/>
          <p:cNvSpPr/>
          <p:nvPr/>
        </p:nvSpPr>
        <p:spPr>
          <a:xfrm>
            <a:off x="922017" y="1988344"/>
            <a:ext cx="4906840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Gestión de Leads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h21647e8e418c3f67_2_65"/>
          <p:cNvSpPr/>
          <p:nvPr/>
        </p:nvSpPr>
        <p:spPr>
          <a:xfrm>
            <a:off x="922017" y="2346027"/>
            <a:ext cx="4906840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CRM </a:t>
            </a:r>
            <a:r>
              <a:rPr b="1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Go High Level</a:t>
            </a: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centraliza información y pipeline de ventas completo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1" name="Google Shape;261;h21647e8e418c3f67_2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8495" y="1803995"/>
            <a:ext cx="5351725" cy="12556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h21647e8e418c3f67_2_65"/>
          <p:cNvSpPr/>
          <p:nvPr/>
        </p:nvSpPr>
        <p:spPr>
          <a:xfrm>
            <a:off x="6439037" y="1988344"/>
            <a:ext cx="4906840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Comunicación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h21647e8e418c3f67_2_65"/>
          <p:cNvSpPr/>
          <p:nvPr/>
        </p:nvSpPr>
        <p:spPr>
          <a:xfrm>
            <a:off x="6439037" y="2346027"/>
            <a:ext cx="4906840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Dialers integrados con VoIP (</a:t>
            </a:r>
            <a:r>
              <a:rPr b="1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Twilio</a:t>
            </a: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) para llamadas entrantes y salientes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4" name="Google Shape;264;h21647e8e418c3f67_2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224907"/>
            <a:ext cx="5351725" cy="125561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h21647e8e418c3f67_2_65"/>
          <p:cNvSpPr/>
          <p:nvPr/>
        </p:nvSpPr>
        <p:spPr>
          <a:xfrm>
            <a:off x="922017" y="3409255"/>
            <a:ext cx="4906840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Grabación y Almacenamiento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h21647e8e418c3f67_2_65"/>
          <p:cNvSpPr/>
          <p:nvPr/>
        </p:nvSpPr>
        <p:spPr>
          <a:xfrm>
            <a:off x="922017" y="3766939"/>
            <a:ext cx="4906840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Llamadas grabadas en la nube para control de calidad y capacitación del equipo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7" name="Google Shape;267;h21647e8e418c3f67_2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8495" y="3224907"/>
            <a:ext cx="5351725" cy="125561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h21647e8e418c3f67_2_65"/>
          <p:cNvSpPr/>
          <p:nvPr/>
        </p:nvSpPr>
        <p:spPr>
          <a:xfrm>
            <a:off x="6439037" y="3409255"/>
            <a:ext cx="4906840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Automatización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h21647e8e418c3f67_2_65"/>
          <p:cNvSpPr/>
          <p:nvPr/>
        </p:nvSpPr>
        <p:spPr>
          <a:xfrm>
            <a:off x="6439037" y="3766939"/>
            <a:ext cx="4906840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Flujos de seguimiento automático de hasta </a:t>
            </a:r>
            <a:r>
              <a:rPr b="1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90 días</a:t>
            </a: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sin intervención manual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0" name="Google Shape;270;h21647e8e418c3f67_2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4645819"/>
            <a:ext cx="5351725" cy="12556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h21647e8e418c3f67_2_65"/>
          <p:cNvSpPr/>
          <p:nvPr/>
        </p:nvSpPr>
        <p:spPr>
          <a:xfrm>
            <a:off x="922017" y="4830167"/>
            <a:ext cx="4906840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Análisis de Datos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h21647e8e418c3f67_2_65"/>
          <p:cNvSpPr/>
          <p:nvPr/>
        </p:nvSpPr>
        <p:spPr>
          <a:xfrm>
            <a:off x="922017" y="5187851"/>
            <a:ext cx="4906840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Dashboards en tiempo real: tasas de conversión, tiempos de respuesta y ROI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3" name="Google Shape;273;h21647e8e418c3f67_2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8495" y="4645819"/>
            <a:ext cx="5351725" cy="125561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h21647e8e418c3f67_2_65"/>
          <p:cNvSpPr/>
          <p:nvPr/>
        </p:nvSpPr>
        <p:spPr>
          <a:xfrm>
            <a:off x="6439037" y="4830167"/>
            <a:ext cx="4906840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Firma Electrónica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h21647e8e418c3f67_2_65"/>
          <p:cNvSpPr/>
          <p:nvPr/>
        </p:nvSpPr>
        <p:spPr>
          <a:xfrm>
            <a:off x="6439037" y="5187851"/>
            <a:ext cx="4906840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Contratos y gestión documental integrada directamente con el CRM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h21647e8e418c3f67_2_65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21647e8e418c3f67_2_88"/>
          <p:cNvSpPr/>
          <p:nvPr/>
        </p:nvSpPr>
        <p:spPr>
          <a:xfrm>
            <a:off x="661475" y="632023"/>
            <a:ext cx="10868745" cy="492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Roboto Medium"/>
              <a:buNone/>
            </a:pPr>
            <a:r>
              <a:rPr b="0" i="0" lang="en-US" sz="31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Estructura del Área de Tecnología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h21647e8e418c3f67_2_88"/>
          <p:cNvSpPr/>
          <p:nvPr/>
        </p:nvSpPr>
        <p:spPr>
          <a:xfrm>
            <a:off x="661475" y="1425079"/>
            <a:ext cx="11478330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área de TI opera con </a:t>
            </a:r>
            <a:r>
              <a:rPr b="1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5 roles especializados</a:t>
            </a: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, cada uno con responsabilidades claramente delimitadas para garantizar la cobertura operativa y estratégica.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h21647e8e418c3f67_2_88"/>
          <p:cNvSpPr/>
          <p:nvPr/>
        </p:nvSpPr>
        <p:spPr>
          <a:xfrm>
            <a:off x="661475" y="1840309"/>
            <a:ext cx="354599" cy="354608"/>
          </a:xfrm>
          <a:prstGeom prst="roundRect">
            <a:avLst>
              <a:gd fmla="val 18671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h21647e8e418c3f67_2_88"/>
          <p:cNvSpPr/>
          <p:nvPr/>
        </p:nvSpPr>
        <p:spPr>
          <a:xfrm>
            <a:off x="720558" y="1869827"/>
            <a:ext cx="236432" cy="295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h21647e8e418c3f67_2_88"/>
          <p:cNvSpPr/>
          <p:nvPr/>
        </p:nvSpPr>
        <p:spPr>
          <a:xfrm>
            <a:off x="1166287" y="1894483"/>
            <a:ext cx="10363933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Responsable de TI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h21647e8e418c3f67_2_88"/>
          <p:cNvSpPr/>
          <p:nvPr/>
        </p:nvSpPr>
        <p:spPr>
          <a:xfrm>
            <a:off x="1166287" y="2230834"/>
            <a:ext cx="10363933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Supervisión general, coordinación con Dirección General, gestión de proveedores, presupuesto y políticas de seguridad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h21647e8e418c3f67_2_88"/>
          <p:cNvSpPr/>
          <p:nvPr/>
        </p:nvSpPr>
        <p:spPr>
          <a:xfrm>
            <a:off x="661475" y="2777530"/>
            <a:ext cx="354599" cy="354608"/>
          </a:xfrm>
          <a:prstGeom prst="roundRect">
            <a:avLst>
              <a:gd fmla="val 18671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h21647e8e418c3f67_2_88"/>
          <p:cNvSpPr/>
          <p:nvPr/>
        </p:nvSpPr>
        <p:spPr>
          <a:xfrm>
            <a:off x="720558" y="2807047"/>
            <a:ext cx="236432" cy="295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h21647e8e418c3f67_2_88"/>
          <p:cNvSpPr/>
          <p:nvPr/>
        </p:nvSpPr>
        <p:spPr>
          <a:xfrm>
            <a:off x="1166287" y="2831703"/>
            <a:ext cx="10363933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Especialista en Sistemas y Automatización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h21647e8e418c3f67_2_88"/>
          <p:cNvSpPr/>
          <p:nvPr/>
        </p:nvSpPr>
        <p:spPr>
          <a:xfrm>
            <a:off x="1166287" y="3168055"/>
            <a:ext cx="10363933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CRM, flujos de automatización, integraciones API, conversation intelligence, dashboards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h21647e8e418c3f67_2_88"/>
          <p:cNvSpPr/>
          <p:nvPr/>
        </p:nvSpPr>
        <p:spPr>
          <a:xfrm>
            <a:off x="661475" y="3714750"/>
            <a:ext cx="354599" cy="354608"/>
          </a:xfrm>
          <a:prstGeom prst="roundRect">
            <a:avLst>
              <a:gd fmla="val 18671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h21647e8e418c3f67_2_88"/>
          <p:cNvSpPr/>
          <p:nvPr/>
        </p:nvSpPr>
        <p:spPr>
          <a:xfrm>
            <a:off x="720558" y="3744268"/>
            <a:ext cx="236432" cy="295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h21647e8e418c3f67_2_88"/>
          <p:cNvSpPr/>
          <p:nvPr/>
        </p:nvSpPr>
        <p:spPr>
          <a:xfrm>
            <a:off x="1166287" y="3768923"/>
            <a:ext cx="10363933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Especialista en Infraestructura Cloud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h21647e8e418c3f67_2_88"/>
          <p:cNvSpPr/>
          <p:nvPr/>
        </p:nvSpPr>
        <p:spPr>
          <a:xfrm>
            <a:off x="1166287" y="4105275"/>
            <a:ext cx="10363933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AWS, red local, equipos, disponibilidad, respaldos, licencias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h21647e8e418c3f67_2_88"/>
          <p:cNvSpPr/>
          <p:nvPr/>
        </p:nvSpPr>
        <p:spPr>
          <a:xfrm>
            <a:off x="661475" y="4651970"/>
            <a:ext cx="354599" cy="354608"/>
          </a:xfrm>
          <a:prstGeom prst="roundRect">
            <a:avLst>
              <a:gd fmla="val 18671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h21647e8e418c3f67_2_88"/>
          <p:cNvSpPr/>
          <p:nvPr/>
        </p:nvSpPr>
        <p:spPr>
          <a:xfrm>
            <a:off x="720558" y="4681488"/>
            <a:ext cx="236432" cy="295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4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h21647e8e418c3f67_2_88"/>
          <p:cNvSpPr/>
          <p:nvPr/>
        </p:nvSpPr>
        <p:spPr>
          <a:xfrm>
            <a:off x="1166287" y="4706144"/>
            <a:ext cx="10363933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Técnico de Soporte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h21647e8e418c3f67_2_88"/>
          <p:cNvSpPr/>
          <p:nvPr/>
        </p:nvSpPr>
        <p:spPr>
          <a:xfrm>
            <a:off x="1166287" y="5042495"/>
            <a:ext cx="10363933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Soporte nivel 1, incidencias, configuración, altas/bajas, inventario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h21647e8e418c3f67_2_88"/>
          <p:cNvSpPr/>
          <p:nvPr/>
        </p:nvSpPr>
        <p:spPr>
          <a:xfrm>
            <a:off x="661475" y="5589191"/>
            <a:ext cx="354599" cy="354608"/>
          </a:xfrm>
          <a:prstGeom prst="roundRect">
            <a:avLst>
              <a:gd fmla="val 18671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h21647e8e418c3f67_2_88"/>
          <p:cNvSpPr/>
          <p:nvPr/>
        </p:nvSpPr>
        <p:spPr>
          <a:xfrm>
            <a:off x="720558" y="5618708"/>
            <a:ext cx="236432" cy="295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5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h21647e8e418c3f67_2_88"/>
          <p:cNvSpPr/>
          <p:nvPr/>
        </p:nvSpPr>
        <p:spPr>
          <a:xfrm>
            <a:off x="1166287" y="5643364"/>
            <a:ext cx="10363933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Analista de Datos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h21647e8e418c3f67_2_88"/>
          <p:cNvSpPr/>
          <p:nvPr/>
        </p:nvSpPr>
        <p:spPr>
          <a:xfrm>
            <a:off x="1166287" y="5979716"/>
            <a:ext cx="10363933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Dashboards, validación de datos, reportes de KPIs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h21647e8e418c3f67_2_88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h21647e8e418c3f67_2_114"/>
          <p:cNvSpPr/>
          <p:nvPr/>
        </p:nvSpPr>
        <p:spPr>
          <a:xfrm>
            <a:off x="661475" y="567531"/>
            <a:ext cx="10868745" cy="492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Roboto Medium"/>
              <a:buNone/>
            </a:pPr>
            <a:r>
              <a:rPr b="0" i="0" lang="en-US" sz="31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Hardware: Estado y Distribución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h21647e8e418c3f67_2_114"/>
          <p:cNvSpPr/>
          <p:nvPr/>
        </p:nvSpPr>
        <p:spPr>
          <a:xfrm>
            <a:off x="661475" y="1360587"/>
            <a:ext cx="10868745" cy="492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ED8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5A6ED8"/>
                </a:solidFill>
                <a:latin typeface="Roboto"/>
                <a:ea typeface="Roboto"/>
                <a:cs typeface="Roboto"/>
                <a:sym typeface="Roboto"/>
              </a:rPr>
              <a:t>95% de activos en estado Bueno u Óptimo.</a:t>
            </a: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El parque tecnológico está segmentado por área funcional con especificaciones acordes a la carga de trabajo de cada rol.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2" name="Google Shape;312;h21647e8e418c3f67_2_114"/>
          <p:cNvGraphicFramePr/>
          <p:nvPr/>
        </p:nvGraphicFramePr>
        <p:xfrm>
          <a:off x="661475" y="20220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{29266051-4E03-4071-B909-BAFE84F9F308}</a:tableStyleId>
              </a:tblPr>
              <a:tblGrid>
                <a:gridCol w="2391125"/>
                <a:gridCol w="3043250"/>
                <a:gridCol w="3804050"/>
                <a:gridCol w="1630300"/>
              </a:tblGrid>
              <a:tr h="44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Roboto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Área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7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Roboto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Equipo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7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Roboto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Especificaciones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7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Roboto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Estado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799"/>
                    </a:solidFill>
                  </a:tcPr>
                </a:tc>
              </a:tr>
              <a:tr h="44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Intake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 laptops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Core i5 11.ª gen · 16 GB RAM · SSD 256 GB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Bueno (1.5 años)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Qualifying / Signing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 todo-en-uno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Core i7 12.ª gen · 32 GB RAM · SSD NVMe 512 GB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Óptimo (&lt;6 meses)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Qualifying / Signing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 laptops alto desempeño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Core i7 12.ª gen · 16 GB RAM · SSD NVMe 512 GB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Bueno (1 año)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8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Tecnología / Dirección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 estaciones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Core i7/i9 12.ª gen · 32 GB RAM · SSD NVMe 1 TB · GPU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FD0D8"/>
                        </a:buClr>
                        <a:buSzPts val="1200"/>
                        <a:buFont typeface="Roboto"/>
                        <a:buNone/>
                      </a:pPr>
                      <a:r>
                        <a:rPr lang="en-US" sz="1200" u="none" cap="none" strike="noStrike">
                          <a:solidFill>
                            <a:srgbClr val="CFD0D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Óptimo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6350" marR="157650" marL="15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3" name="Google Shape;313;h21647e8e418c3f67_2_114"/>
          <p:cNvSpPr/>
          <p:nvPr/>
        </p:nvSpPr>
        <p:spPr>
          <a:xfrm>
            <a:off x="661475" y="2454532"/>
            <a:ext cx="10868745" cy="9852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h21647e8e418c3f67_2_114"/>
          <p:cNvSpPr/>
          <p:nvPr/>
        </p:nvSpPr>
        <p:spPr>
          <a:xfrm>
            <a:off x="661475" y="2900013"/>
            <a:ext cx="10868745" cy="9852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h21647e8e418c3f67_2_114"/>
          <p:cNvSpPr/>
          <p:nvPr/>
        </p:nvSpPr>
        <p:spPr>
          <a:xfrm>
            <a:off x="661475" y="3591749"/>
            <a:ext cx="10868745" cy="9852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h21647e8e418c3f67_2_114"/>
          <p:cNvSpPr/>
          <p:nvPr/>
        </p:nvSpPr>
        <p:spPr>
          <a:xfrm>
            <a:off x="661475" y="4037230"/>
            <a:ext cx="10868745" cy="9852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h21647e8e418c3f67_2_114"/>
          <p:cNvSpPr/>
          <p:nvPr/>
        </p:nvSpPr>
        <p:spPr>
          <a:xfrm>
            <a:off x="661475" y="4996160"/>
            <a:ext cx="3497770" cy="520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4050"/>
              <a:buFont typeface="Roboto Medium"/>
              <a:buNone/>
            </a:pPr>
            <a:r>
              <a:rPr b="0" i="0" lang="en-US" sz="40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30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h21647e8e418c3f67_2_114"/>
          <p:cNvSpPr/>
          <p:nvPr/>
        </p:nvSpPr>
        <p:spPr>
          <a:xfrm>
            <a:off x="661475" y="5707757"/>
            <a:ext cx="3497770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Equipos totales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h21647e8e418c3f67_2_114"/>
          <p:cNvSpPr/>
          <p:nvPr/>
        </p:nvSpPr>
        <p:spPr>
          <a:xfrm>
            <a:off x="661475" y="6044109"/>
            <a:ext cx="3497770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Distribuidos en todas las áreas funcionales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h21647e8e418c3f67_2_114"/>
          <p:cNvSpPr/>
          <p:nvPr/>
        </p:nvSpPr>
        <p:spPr>
          <a:xfrm>
            <a:off x="4346962" y="4996160"/>
            <a:ext cx="3497770" cy="520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4050"/>
              <a:buFont typeface="Roboto Medium"/>
              <a:buNone/>
            </a:pPr>
            <a:r>
              <a:rPr b="0" i="0" lang="en-US" sz="40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95%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h21647e8e418c3f67_2_114"/>
          <p:cNvSpPr/>
          <p:nvPr/>
        </p:nvSpPr>
        <p:spPr>
          <a:xfrm>
            <a:off x="4346962" y="5707757"/>
            <a:ext cx="3497770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Estado Bueno u Óptimo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h21647e8e418c3f67_2_114"/>
          <p:cNvSpPr/>
          <p:nvPr/>
        </p:nvSpPr>
        <p:spPr>
          <a:xfrm>
            <a:off x="4346962" y="6044109"/>
            <a:ext cx="3497770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Valoración general del parque tecnológico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h21647e8e418c3f67_2_114"/>
          <p:cNvSpPr/>
          <p:nvPr/>
        </p:nvSpPr>
        <p:spPr>
          <a:xfrm>
            <a:off x="8032450" y="4996160"/>
            <a:ext cx="3497770" cy="520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4050"/>
              <a:buFont typeface="Roboto Medium"/>
              <a:buNone/>
            </a:pPr>
            <a:r>
              <a:rPr b="0" i="0" lang="en-US" sz="40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12.ª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h21647e8e418c3f67_2_114"/>
          <p:cNvSpPr/>
          <p:nvPr/>
        </p:nvSpPr>
        <p:spPr>
          <a:xfrm>
            <a:off x="8032450" y="5707757"/>
            <a:ext cx="3497770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Generación Intel Core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h21647e8e418c3f67_2_114"/>
          <p:cNvSpPr/>
          <p:nvPr/>
        </p:nvSpPr>
        <p:spPr>
          <a:xfrm>
            <a:off x="8032450" y="6044109"/>
            <a:ext cx="3497770" cy="24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Equipos de Qualifying, Signing y Dirección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h21647e8e418c3f67_2_114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h21647e8e418c3f67_2_134"/>
          <p:cNvSpPr/>
          <p:nvPr/>
        </p:nvSpPr>
        <p:spPr>
          <a:xfrm>
            <a:off x="661475" y="495102"/>
            <a:ext cx="10868745" cy="476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Software y Plataformas Implementadas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h21647e8e418c3f67_2_134"/>
          <p:cNvSpPr/>
          <p:nvPr/>
        </p:nvSpPr>
        <p:spPr>
          <a:xfrm>
            <a:off x="661475" y="1322884"/>
            <a:ext cx="5248441" cy="238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 Medium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Plataformas Operativas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4" name="Google Shape;334;h21647e8e418c3f67_2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719163"/>
            <a:ext cx="2553926" cy="1636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5" name="Google Shape;335;h21647e8e418c3f67_2_1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4091" y="1849338"/>
            <a:ext cx="228693" cy="22869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h21647e8e418c3f67_2_134"/>
          <p:cNvSpPr/>
          <p:nvPr/>
        </p:nvSpPr>
        <p:spPr>
          <a:xfrm>
            <a:off x="832921" y="2336105"/>
            <a:ext cx="2211035" cy="238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h21647e8e418c3f67_2_134"/>
          <p:cNvSpPr/>
          <p:nvPr/>
        </p:nvSpPr>
        <p:spPr>
          <a:xfrm>
            <a:off x="832921" y="2714823"/>
            <a:ext cx="2211035" cy="468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Go High Level</a:t>
            </a: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— gestión de leads y pipeline de ventas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8" name="Google Shape;338;h21647e8e418c3f67_2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5891" y="1719163"/>
            <a:ext cx="2554025" cy="1636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9" name="Google Shape;339;h21647e8e418c3f67_2_1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18507" y="1849338"/>
            <a:ext cx="228693" cy="22869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h21647e8e418c3f67_2_134"/>
          <p:cNvSpPr/>
          <p:nvPr/>
        </p:nvSpPr>
        <p:spPr>
          <a:xfrm>
            <a:off x="3527337" y="2336105"/>
            <a:ext cx="2211134" cy="238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Dialers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h21647e8e418c3f67_2_134"/>
          <p:cNvSpPr/>
          <p:nvPr/>
        </p:nvSpPr>
        <p:spPr>
          <a:xfrm>
            <a:off x="3527337" y="2714823"/>
            <a:ext cx="2211134" cy="468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Hot Prospector</a:t>
            </a: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— llamadas entrantes y salientes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2" name="Google Shape;342;h21647e8e418c3f67_2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495675"/>
            <a:ext cx="2553926" cy="1636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3" name="Google Shape;343;h21647e8e418c3f67_2_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4091" y="3625850"/>
            <a:ext cx="228693" cy="228699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h21647e8e418c3f67_2_134"/>
          <p:cNvSpPr/>
          <p:nvPr/>
        </p:nvSpPr>
        <p:spPr>
          <a:xfrm>
            <a:off x="832921" y="4112617"/>
            <a:ext cx="2211035" cy="238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Automatización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h21647e8e418c3f67_2_134"/>
          <p:cNvSpPr/>
          <p:nvPr/>
        </p:nvSpPr>
        <p:spPr>
          <a:xfrm>
            <a:off x="832921" y="4491335"/>
            <a:ext cx="2211035" cy="468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Flujos de seguimiento automático hasta 90 días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6" name="Google Shape;346;h21647e8e418c3f67_2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5891" y="3495675"/>
            <a:ext cx="2554025" cy="1636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7" name="Google Shape;347;h21647e8e418c3f67_2_1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18507" y="3625850"/>
            <a:ext cx="228693" cy="22869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h21647e8e418c3f67_2_134"/>
          <p:cNvSpPr/>
          <p:nvPr/>
        </p:nvSpPr>
        <p:spPr>
          <a:xfrm>
            <a:off x="3527337" y="4112617"/>
            <a:ext cx="2211134" cy="238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h21647e8e418c3f67_2_134"/>
          <p:cNvSpPr/>
          <p:nvPr/>
        </p:nvSpPr>
        <p:spPr>
          <a:xfrm>
            <a:off x="3527337" y="4491335"/>
            <a:ext cx="2211134" cy="468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Conversation Intelligence para análisis de llamadas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h21647e8e418c3f67_2_134"/>
          <p:cNvSpPr/>
          <p:nvPr/>
        </p:nvSpPr>
        <p:spPr>
          <a:xfrm>
            <a:off x="6288129" y="1322884"/>
            <a:ext cx="5248441" cy="238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 Medium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Herramientas de Soporte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1" name="Google Shape;351;h21647e8e418c3f67_2_1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8129" y="1719163"/>
            <a:ext cx="5248441" cy="1401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2" name="Google Shape;352;h21647e8e418c3f67_2_1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98003" y="1849338"/>
            <a:ext cx="228693" cy="228699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h21647e8e418c3f67_2_134"/>
          <p:cNvSpPr/>
          <p:nvPr/>
        </p:nvSpPr>
        <p:spPr>
          <a:xfrm>
            <a:off x="6459574" y="2336105"/>
            <a:ext cx="4905550" cy="238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Analítica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h21647e8e418c3f67_2_134"/>
          <p:cNvSpPr/>
          <p:nvPr/>
        </p:nvSpPr>
        <p:spPr>
          <a:xfrm>
            <a:off x="6459574" y="2714823"/>
            <a:ext cx="4905550" cy="234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Dashboards para monitoreo de KPIs en tiempo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5" name="Google Shape;355;h21647e8e418c3f67_2_1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8129" y="3261221"/>
            <a:ext cx="5248441" cy="1401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6" name="Google Shape;356;h21647e8e418c3f67_2_1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98003" y="3391396"/>
            <a:ext cx="228693" cy="228699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h21647e8e418c3f67_2_134"/>
          <p:cNvSpPr/>
          <p:nvPr/>
        </p:nvSpPr>
        <p:spPr>
          <a:xfrm>
            <a:off x="6459574" y="3878163"/>
            <a:ext cx="4905550" cy="238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Colaboración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h21647e8e418c3f67_2_134"/>
          <p:cNvSpPr/>
          <p:nvPr/>
        </p:nvSpPr>
        <p:spPr>
          <a:xfrm>
            <a:off x="6459574" y="4256881"/>
            <a:ext cx="4905550" cy="234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Outlook, Google Drive, mensajería interna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9" name="Google Shape;359;h21647e8e418c3f67_2_1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8129" y="4803279"/>
            <a:ext cx="5248441" cy="1401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0" name="Google Shape;360;h21647e8e418c3f67_2_1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98003" y="4933454"/>
            <a:ext cx="228693" cy="228699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h21647e8e418c3f67_2_134"/>
          <p:cNvSpPr/>
          <p:nvPr/>
        </p:nvSpPr>
        <p:spPr>
          <a:xfrm>
            <a:off x="6459574" y="5420221"/>
            <a:ext cx="4905550" cy="238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Seguridad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h21647e8e418c3f67_2_134"/>
          <p:cNvSpPr/>
          <p:nvPr/>
        </p:nvSpPr>
        <p:spPr>
          <a:xfrm>
            <a:off x="6459574" y="5798939"/>
            <a:ext cx="4905550" cy="234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Antivirus y antimalware en todas las estaciones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h21647e8e418c3f67_2_134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h21647e8e418c3f67_2_169"/>
          <p:cNvSpPr/>
          <p:nvPr/>
        </p:nvSpPr>
        <p:spPr>
          <a:xfrm>
            <a:off x="661475" y="689967"/>
            <a:ext cx="10868745" cy="5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50"/>
              <a:buFont typeface="Roboto Medium"/>
              <a:buNone/>
            </a:pPr>
            <a:r>
              <a:rPr b="0" i="0" lang="en-US" sz="32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Infraestructura Cloud: AWS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h21647e8e418c3f67_2_169"/>
          <p:cNvSpPr/>
          <p:nvPr/>
        </p:nvSpPr>
        <p:spPr>
          <a:xfrm>
            <a:off x="661475" y="1537395"/>
            <a:ext cx="10868745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La arquitectura cloud sobre </a:t>
            </a:r>
            <a:r>
              <a:rPr b="1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Amazon Web Services</a:t>
            </a: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provee el backbone tecnológico de la operación, con servicios distribuidos en cómputo, almacenamiento y acceso remoto seguro.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h21647e8e418c3f67_2_169"/>
          <p:cNvSpPr/>
          <p:nvPr/>
        </p:nvSpPr>
        <p:spPr>
          <a:xfrm>
            <a:off x="661475" y="2252663"/>
            <a:ext cx="3512653" cy="1494830"/>
          </a:xfrm>
          <a:prstGeom prst="roundRect">
            <a:avLst>
              <a:gd fmla="val 4647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h21647e8e418c3f67_2_169"/>
          <p:cNvSpPr/>
          <p:nvPr/>
        </p:nvSpPr>
        <p:spPr>
          <a:xfrm>
            <a:off x="833119" y="2424311"/>
            <a:ext cx="3169364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Cómputo (EC2)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h21647e8e418c3f67_2_169"/>
          <p:cNvSpPr/>
          <p:nvPr/>
        </p:nvSpPr>
        <p:spPr>
          <a:xfrm>
            <a:off x="833119" y="2781995"/>
            <a:ext cx="3169364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Instancias virtuales para aplicaciones de integración y backend del CRM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h21647e8e418c3f67_2_169"/>
          <p:cNvSpPr/>
          <p:nvPr/>
        </p:nvSpPr>
        <p:spPr>
          <a:xfrm>
            <a:off x="4339422" y="2252663"/>
            <a:ext cx="3512752" cy="1494830"/>
          </a:xfrm>
          <a:prstGeom prst="roundRect">
            <a:avLst>
              <a:gd fmla="val 4647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h21647e8e418c3f67_2_169"/>
          <p:cNvSpPr/>
          <p:nvPr/>
        </p:nvSpPr>
        <p:spPr>
          <a:xfrm>
            <a:off x="4511066" y="2424311"/>
            <a:ext cx="3169464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Almacenamiento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h21647e8e418c3f67_2_169"/>
          <p:cNvSpPr/>
          <p:nvPr/>
        </p:nvSpPr>
        <p:spPr>
          <a:xfrm>
            <a:off x="4511066" y="2781995"/>
            <a:ext cx="3169464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Grabaciones, contratos firmados y registros de actividad con </a:t>
            </a:r>
            <a:r>
              <a:rPr b="1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cifrado en reposo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h21647e8e418c3f67_2_169"/>
          <p:cNvSpPr/>
          <p:nvPr/>
        </p:nvSpPr>
        <p:spPr>
          <a:xfrm>
            <a:off x="8017468" y="2252663"/>
            <a:ext cx="3512653" cy="1494830"/>
          </a:xfrm>
          <a:prstGeom prst="roundRect">
            <a:avLst>
              <a:gd fmla="val 4647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h21647e8e418c3f67_2_169"/>
          <p:cNvSpPr/>
          <p:nvPr/>
        </p:nvSpPr>
        <p:spPr>
          <a:xfrm>
            <a:off x="8189112" y="2424311"/>
            <a:ext cx="3169364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Escritorios Virtuales (VDI)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h21647e8e418c3f67_2_169"/>
          <p:cNvSpPr/>
          <p:nvPr/>
        </p:nvSpPr>
        <p:spPr>
          <a:xfrm>
            <a:off x="8189112" y="2781995"/>
            <a:ext cx="3169364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Acceso seguro a consolas de administración desde cualquier ubicación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h21647e8e418c3f67_2_169"/>
          <p:cNvSpPr/>
          <p:nvPr/>
        </p:nvSpPr>
        <p:spPr>
          <a:xfrm>
            <a:off x="542415" y="3933527"/>
            <a:ext cx="5470785" cy="2234505"/>
          </a:xfrm>
          <a:prstGeom prst="roundRect">
            <a:avLst>
              <a:gd fmla="val 5329" name="adj"/>
            </a:avLst>
          </a:prstGeom>
          <a:solidFill>
            <a:srgbClr val="5A6ED8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h21647e8e418c3f67_2_169"/>
          <p:cNvSpPr/>
          <p:nvPr/>
        </p:nvSpPr>
        <p:spPr>
          <a:xfrm>
            <a:off x="707710" y="4098826"/>
            <a:ext cx="514019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Ventajas Clave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h21647e8e418c3f67_2_169"/>
          <p:cNvSpPr/>
          <p:nvPr/>
        </p:nvSpPr>
        <p:spPr>
          <a:xfrm>
            <a:off x="707710" y="4522589"/>
            <a:ext cx="5140196" cy="9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Escalabilidad bajo demanda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Alta disponibilidad de servicios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Reducción de costos de infraestructura física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h21647e8e418c3f67_2_169"/>
          <p:cNvSpPr/>
          <p:nvPr/>
        </p:nvSpPr>
        <p:spPr>
          <a:xfrm>
            <a:off x="6303904" y="4098826"/>
            <a:ext cx="523266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Riesgo Identificado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h21647e8e418c3f67_2_169"/>
          <p:cNvSpPr/>
          <p:nvPr/>
        </p:nvSpPr>
        <p:spPr>
          <a:xfrm>
            <a:off x="6303904" y="4522589"/>
            <a:ext cx="5232666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Dependencia crítica del proveedor.</a:t>
            </a: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La operación completa recae sobre AWS, lo que requiere: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h21647e8e418c3f67_2_169"/>
          <p:cNvSpPr/>
          <p:nvPr/>
        </p:nvSpPr>
        <p:spPr>
          <a:xfrm>
            <a:off x="6303904" y="5200650"/>
            <a:ext cx="5232666" cy="9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SLAs sólidos y documentados con el proveedor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Plan de contingencia ante caídas del servicio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Estrategia de respaldo multi-región o multi-proveedor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h21647e8e418c3f67_2_169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h21647e8e418c3f67_2_190"/>
          <p:cNvSpPr/>
          <p:nvPr/>
        </p:nvSpPr>
        <p:spPr>
          <a:xfrm>
            <a:off x="661475" y="907058"/>
            <a:ext cx="10868745" cy="5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50"/>
              <a:buFont typeface="Roboto Medium"/>
              <a:buNone/>
            </a:pPr>
            <a:r>
              <a:rPr b="0" i="0" lang="en-US" sz="32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Plataforma de Comunicación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h21647e8e418c3f67_2_190"/>
          <p:cNvSpPr/>
          <p:nvPr/>
        </p:nvSpPr>
        <p:spPr>
          <a:xfrm>
            <a:off x="661475" y="1754485"/>
            <a:ext cx="10868745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La infraestructura de comunicaciones integra telefonía VoIP, correo corporativo, almacenamiento compartido y red local segmentada para garantizar operación coordinada y segura.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4" name="Google Shape;394;h21647e8e418c3f67_2_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469753"/>
            <a:ext cx="413434" cy="41344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h21647e8e418c3f67_2_190"/>
          <p:cNvSpPr/>
          <p:nvPr/>
        </p:nvSpPr>
        <p:spPr>
          <a:xfrm>
            <a:off x="1281577" y="2469753"/>
            <a:ext cx="4710888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Telefonía VoIP — Twilio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h21647e8e418c3f67_2_190"/>
          <p:cNvSpPr/>
          <p:nvPr/>
        </p:nvSpPr>
        <p:spPr>
          <a:xfrm>
            <a:off x="1281577" y="2827437"/>
            <a:ext cx="4710888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Integrado con CRM mediante APIs. Gestiona llamadas entrantes y salientes con grabación automática y trazabilidad completa de interacciones.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7" name="Google Shape;397;h21647e8e418c3f67_2_1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132" y="2469753"/>
            <a:ext cx="413434" cy="41344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h21647e8e418c3f67_2_190"/>
          <p:cNvSpPr/>
          <p:nvPr/>
        </p:nvSpPr>
        <p:spPr>
          <a:xfrm>
            <a:off x="6819233" y="2469753"/>
            <a:ext cx="4710987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Correo Corporativo — Microsoft Outlook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h21647e8e418c3f67_2_190"/>
          <p:cNvSpPr/>
          <p:nvPr/>
        </p:nvSpPr>
        <p:spPr>
          <a:xfrm>
            <a:off x="6819233" y="2827437"/>
            <a:ext cx="4710987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Plataforma de comunicación formal interna y externa. Integrada con el ecosistema Microsoft para gestión de calendarios y contactos.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0" name="Google Shape;400;h21647e8e418c3f67_2_1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3951982"/>
            <a:ext cx="413434" cy="41344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h21647e8e418c3f67_2_190"/>
          <p:cNvSpPr/>
          <p:nvPr/>
        </p:nvSpPr>
        <p:spPr>
          <a:xfrm>
            <a:off x="1281577" y="3951982"/>
            <a:ext cx="4710888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Almacenamiento Compartido — Google Drive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h21647e8e418c3f67_2_190"/>
          <p:cNvSpPr/>
          <p:nvPr/>
        </p:nvSpPr>
        <p:spPr>
          <a:xfrm>
            <a:off x="1281577" y="4309666"/>
            <a:ext cx="4710888" cy="529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Repositorio centralizado de documentos operativos, contratos y materiales de capacitación con control de acceso por roles.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3" name="Google Shape;403;h21647e8e418c3f67_2_19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9132" y="3951982"/>
            <a:ext cx="413434" cy="41344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h21647e8e418c3f67_2_190"/>
          <p:cNvSpPr/>
          <p:nvPr/>
        </p:nvSpPr>
        <p:spPr>
          <a:xfrm>
            <a:off x="6819233" y="3951982"/>
            <a:ext cx="4710987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Red Local — LAN Segmentada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h21647e8e418c3f67_2_190"/>
          <p:cNvSpPr/>
          <p:nvPr/>
        </p:nvSpPr>
        <p:spPr>
          <a:xfrm>
            <a:off x="6819233" y="4309666"/>
            <a:ext cx="4710987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Separación de tráfico operativo y administrativo para reducir superficie de ataque y garantizar disponibilidad de servicios críticos.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h21647e8e418c3f67_2_190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h21647e8e418c3f67_2_211"/>
          <p:cNvSpPr/>
          <p:nvPr/>
        </p:nvSpPr>
        <p:spPr>
          <a:xfrm>
            <a:off x="661475" y="492621"/>
            <a:ext cx="10868745" cy="476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Documentación: Brechas Críticas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h21647e8e418c3f67_2_211"/>
          <p:cNvSpPr/>
          <p:nvPr/>
        </p:nvSpPr>
        <p:spPr>
          <a:xfrm>
            <a:off x="661475" y="1250156"/>
            <a:ext cx="10868745" cy="468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análisis de documentación existente revela </a:t>
            </a:r>
            <a:r>
              <a:rPr b="1" i="0" lang="en-US" sz="1200" u="none" cap="none" strike="noStrike">
                <a:solidFill>
                  <a:srgbClr val="5A6ED8"/>
                </a:solidFill>
                <a:latin typeface="Roboto"/>
                <a:ea typeface="Roboto"/>
                <a:cs typeface="Roboto"/>
                <a:sym typeface="Roboto"/>
              </a:rPr>
              <a:t>brechas significativas</a:t>
            </a: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que dificultan la continuidad operativa, la trazabilidad de acciones y el cumplimiento de normativas de seguridad.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h21647e8e418c3f67_2_211"/>
          <p:cNvSpPr/>
          <p:nvPr/>
        </p:nvSpPr>
        <p:spPr>
          <a:xfrm>
            <a:off x="661475" y="2035175"/>
            <a:ext cx="2028377" cy="231676"/>
          </a:xfrm>
          <a:prstGeom prst="roundRect">
            <a:avLst>
              <a:gd fmla="val 22113" name="adj"/>
            </a:avLst>
          </a:prstGeom>
          <a:solidFill>
            <a:srgbClr val="0F1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h21647e8e418c3f67_2_211"/>
          <p:cNvSpPr/>
          <p:nvPr/>
        </p:nvSpPr>
        <p:spPr>
          <a:xfrm>
            <a:off x="752952" y="2080915"/>
            <a:ext cx="2455007" cy="140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en-US" sz="9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DOCUMENTACIÓN EXISTENTE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6" name="Google Shape;416;h21647e8e418c3f67_2_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425" y="2405856"/>
            <a:ext cx="5267491" cy="27255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h21647e8e418c3f67_2_211"/>
          <p:cNvSpPr/>
          <p:nvPr/>
        </p:nvSpPr>
        <p:spPr>
          <a:xfrm>
            <a:off x="851970" y="2424906"/>
            <a:ext cx="5057946" cy="234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Políticas de privacidad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8" name="Google Shape;418;h21647e8e418c3f67_2_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425" y="2921397"/>
            <a:ext cx="5267491" cy="272554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h21647e8e418c3f67_2_211"/>
          <p:cNvSpPr/>
          <p:nvPr/>
        </p:nvSpPr>
        <p:spPr>
          <a:xfrm>
            <a:off x="851970" y="2940447"/>
            <a:ext cx="5057946" cy="234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Manual de funciones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0" name="Google Shape;420;h21647e8e418c3f67_2_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425" y="3436938"/>
            <a:ext cx="5267491" cy="272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h21647e8e418c3f67_2_211"/>
          <p:cNvSpPr/>
          <p:nvPr/>
        </p:nvSpPr>
        <p:spPr>
          <a:xfrm>
            <a:off x="851970" y="3455988"/>
            <a:ext cx="5057946" cy="234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Contratos con proveedores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2" name="Google Shape;422;h21647e8e418c3f67_2_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425" y="3952478"/>
            <a:ext cx="5267491" cy="272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h21647e8e418c3f67_2_211"/>
          <p:cNvSpPr/>
          <p:nvPr/>
        </p:nvSpPr>
        <p:spPr>
          <a:xfrm>
            <a:off x="851970" y="3971528"/>
            <a:ext cx="5057946" cy="234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Inventario de equipos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4" name="Google Shape;424;h21647e8e418c3f67_2_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425" y="4468019"/>
            <a:ext cx="5267491" cy="272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h21647e8e418c3f67_2_211"/>
          <p:cNvSpPr/>
          <p:nvPr/>
        </p:nvSpPr>
        <p:spPr>
          <a:xfrm>
            <a:off x="851970" y="4487069"/>
            <a:ext cx="5057946" cy="234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Registros de altas/bajas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6" name="Google Shape;426;h21647e8e418c3f67_2_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425" y="4983559"/>
            <a:ext cx="5267491" cy="272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h21647e8e418c3f67_2_211"/>
          <p:cNvSpPr/>
          <p:nvPr/>
        </p:nvSpPr>
        <p:spPr>
          <a:xfrm>
            <a:off x="851970" y="5002609"/>
            <a:ext cx="5057946" cy="234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Logs y reportes operativos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h21647e8e418c3f67_2_211"/>
          <p:cNvSpPr/>
          <p:nvPr/>
        </p:nvSpPr>
        <p:spPr>
          <a:xfrm>
            <a:off x="6178395" y="1877120"/>
            <a:ext cx="5467908" cy="3517999"/>
          </a:xfrm>
          <a:prstGeom prst="roundRect">
            <a:avLst>
              <a:gd fmla="val 3120" name="adj"/>
            </a:avLst>
          </a:prstGeom>
          <a:solidFill>
            <a:srgbClr val="5A6ED8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h21647e8e418c3f67_2_211"/>
          <p:cNvSpPr/>
          <p:nvPr/>
        </p:nvSpPr>
        <p:spPr>
          <a:xfrm>
            <a:off x="6330792" y="2035175"/>
            <a:ext cx="1934320" cy="231676"/>
          </a:xfrm>
          <a:prstGeom prst="roundRect">
            <a:avLst>
              <a:gd fmla="val 22113" name="adj"/>
            </a:avLst>
          </a:prstGeom>
          <a:noFill/>
          <a:ln cap="flat" cmpd="sng" w="9525">
            <a:solidFill>
              <a:srgbClr val="5A6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h21647e8e418c3f67_2_211"/>
          <p:cNvSpPr/>
          <p:nvPr/>
        </p:nvSpPr>
        <p:spPr>
          <a:xfrm>
            <a:off x="6422269" y="2080915"/>
            <a:ext cx="2360950" cy="140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en-US" sz="950" u="none" cap="none" strike="noStrike">
                <a:solidFill>
                  <a:srgbClr val="5A6ED8"/>
                </a:solidFill>
                <a:latin typeface="Roboto"/>
                <a:ea typeface="Roboto"/>
                <a:cs typeface="Roboto"/>
                <a:sym typeface="Roboto"/>
              </a:rPr>
              <a:t> DOCUMENTACIÓN AUSENTE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1" name="Google Shape;431;h21647e8e418c3f67_2_2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1742" y="2405856"/>
            <a:ext cx="5182165" cy="272554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h21647e8e418c3f67_2_211"/>
          <p:cNvSpPr/>
          <p:nvPr/>
        </p:nvSpPr>
        <p:spPr>
          <a:xfrm>
            <a:off x="6521287" y="2424906"/>
            <a:ext cx="4972620" cy="234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Plan de Recuperación ante Desastres (DRP)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3" name="Google Shape;433;h21647e8e418c3f67_2_2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1742" y="2921397"/>
            <a:ext cx="5182165" cy="272554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h21647e8e418c3f67_2_211"/>
          <p:cNvSpPr/>
          <p:nvPr/>
        </p:nvSpPr>
        <p:spPr>
          <a:xfrm>
            <a:off x="6521287" y="2940447"/>
            <a:ext cx="4972620" cy="234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Plan de Continuidad del Negocio (BCP)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5" name="Google Shape;435;h21647e8e418c3f67_2_2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1742" y="3436938"/>
            <a:ext cx="5182165" cy="272554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h21647e8e418c3f67_2_211"/>
          <p:cNvSpPr/>
          <p:nvPr/>
        </p:nvSpPr>
        <p:spPr>
          <a:xfrm>
            <a:off x="6521287" y="3455988"/>
            <a:ext cx="4972620" cy="234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Matriz de roles y permisos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7" name="Google Shape;437;h21647e8e418c3f67_2_2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1742" y="3952478"/>
            <a:ext cx="5182165" cy="272554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h21647e8e418c3f67_2_211"/>
          <p:cNvSpPr/>
          <p:nvPr/>
        </p:nvSpPr>
        <p:spPr>
          <a:xfrm>
            <a:off x="6521287" y="3971528"/>
            <a:ext cx="4972620" cy="234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Políticas formales de seguridad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9" name="Google Shape;439;h21647e8e418c3f67_2_2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1742" y="4468019"/>
            <a:ext cx="5182165" cy="272554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h21647e8e418c3f67_2_211"/>
          <p:cNvSpPr/>
          <p:nvPr/>
        </p:nvSpPr>
        <p:spPr>
          <a:xfrm>
            <a:off x="6521287" y="4487069"/>
            <a:ext cx="4972620" cy="234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Procedimientos de respaldo y restauración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1" name="Google Shape;441;h21647e8e418c3f67_2_2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1742" y="4983559"/>
            <a:ext cx="5182165" cy="272554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h21647e8e418c3f67_2_211"/>
          <p:cNvSpPr/>
          <p:nvPr/>
        </p:nvSpPr>
        <p:spPr>
          <a:xfrm>
            <a:off x="6521287" y="5002609"/>
            <a:ext cx="4972620" cy="234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Procedimientos de habilitación de nuevos servicios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h21647e8e418c3f67_2_211"/>
          <p:cNvSpPr/>
          <p:nvPr/>
        </p:nvSpPr>
        <p:spPr>
          <a:xfrm>
            <a:off x="661475" y="5553174"/>
            <a:ext cx="10868745" cy="812105"/>
          </a:xfrm>
          <a:prstGeom prst="roundRect">
            <a:avLst>
              <a:gd fmla="val 7885" name="adj"/>
            </a:avLst>
          </a:prstGeom>
          <a:solidFill>
            <a:srgbClr val="45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4" name="Google Shape;444;h21647e8e418c3f67_2_2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71" y="5750818"/>
            <a:ext cx="19049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h21647e8e418c3f67_2_211"/>
          <p:cNvSpPr/>
          <p:nvPr/>
        </p:nvSpPr>
        <p:spPr>
          <a:xfrm>
            <a:off x="1156762" y="5731768"/>
            <a:ext cx="10221061" cy="468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Riesgo: La ausencia de DRP, BCP y políticas formales de seguridad representa una exposición operativa y regulatoria de alta prioridad que debe atenderse de manera inmediata.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h21647e8e418c3f67_2_211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2" name="Google Shape;452;h21647e8e418c3f67_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h21647e8e418c3f67_4_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Roboto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Auditoría Tecnológica: Central Legal Advisors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h21647e8e418c3f67_4_0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Informe ejecutivo de hallazgos, brechas y recomendaciones prioritarias para la gestión de tecnología e información.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0" name="Google Shape;460;h21647e8e418c3f67_4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h21647e8e418c3f67_4_8"/>
          <p:cNvSpPr/>
          <p:nvPr/>
        </p:nvSpPr>
        <p:spPr>
          <a:xfrm>
            <a:off x="5233360" y="567928"/>
            <a:ext cx="6296860" cy="904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Medium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Equipamiento Computacional de Usuarios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2" name="Google Shape;462;h21647e8e418c3f67_4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1638598"/>
            <a:ext cx="6296860" cy="1233091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h21647e8e418c3f67_4_8"/>
          <p:cNvSpPr/>
          <p:nvPr/>
        </p:nvSpPr>
        <p:spPr>
          <a:xfrm>
            <a:off x="5941963" y="1802309"/>
            <a:ext cx="5424550" cy="226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Medium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Área de Intake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h21647e8e418c3f67_4_8"/>
          <p:cNvSpPr/>
          <p:nvPr/>
        </p:nvSpPr>
        <p:spPr>
          <a:xfrm>
            <a:off x="5941963" y="2094805"/>
            <a:ext cx="5424550" cy="61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15 computadoras portátiles de gama media para gestión de llamadas y actualización de datos en CRM. Antigüedad promedio de </a:t>
            </a:r>
            <a:r>
              <a:rPr b="1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1.5 años</a:t>
            </a: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sugiere renovación cercana.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5" name="Google Shape;465;h21647e8e418c3f67_4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3360" y="2982416"/>
            <a:ext cx="629686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h21647e8e418c3f67_4_8"/>
          <p:cNvSpPr/>
          <p:nvPr/>
        </p:nvSpPr>
        <p:spPr>
          <a:xfrm>
            <a:off x="5941963" y="3146127"/>
            <a:ext cx="5424550" cy="226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Medium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Área de Qualifying y Signing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h21647e8e418c3f67_4_8"/>
          <p:cNvSpPr/>
          <p:nvPr/>
        </p:nvSpPr>
        <p:spPr>
          <a:xfrm>
            <a:off x="5941963" y="3438624"/>
            <a:ext cx="5424550" cy="408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4 equipos todo-en-uno de alto desempeño y 6 computadoras portátiles para videollamadas, firma electrónica y conversation intelligence.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8" name="Google Shape;468;h21647e8e418c3f67_4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3360" y="4121845"/>
            <a:ext cx="629686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h21647e8e418c3f67_4_8"/>
          <p:cNvSpPr/>
          <p:nvPr/>
        </p:nvSpPr>
        <p:spPr>
          <a:xfrm>
            <a:off x="5941963" y="4285555"/>
            <a:ext cx="5424550" cy="226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Medium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Área de Tecnología y Dirección General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h21647e8e418c3f67_4_8"/>
          <p:cNvSpPr/>
          <p:nvPr/>
        </p:nvSpPr>
        <p:spPr>
          <a:xfrm>
            <a:off x="5941963" y="4578052"/>
            <a:ext cx="5424550" cy="408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5 estaciones de trabajo móviles de primer nivel con procesadores de alto rendimiento, 32 GB RAM, SSD 1 TB y tarjeta gráfica dedicada.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1" name="Google Shape;471;h21647e8e418c3f67_4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3360" y="5261273"/>
            <a:ext cx="629686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h21647e8e418c3f67_4_8"/>
          <p:cNvSpPr/>
          <p:nvPr/>
        </p:nvSpPr>
        <p:spPr>
          <a:xfrm>
            <a:off x="5941963" y="5424984"/>
            <a:ext cx="5424550" cy="226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Medium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Estado General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h21647e8e418c3f67_4_8"/>
          <p:cNvSpPr/>
          <p:nvPr/>
        </p:nvSpPr>
        <p:spPr>
          <a:xfrm>
            <a:off x="5941963" y="5717480"/>
            <a:ext cx="5424550" cy="408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Equipamiento en buenas condiciones generales, pero </a:t>
            </a:r>
            <a:r>
              <a:rPr b="1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falta plan formal de renovación tecnológica</a:t>
            </a: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h21647e8e418c3f67_4_8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h21647e8e418c3f67_4_26"/>
          <p:cNvSpPr/>
          <p:nvPr/>
        </p:nvSpPr>
        <p:spPr>
          <a:xfrm>
            <a:off x="661475" y="527447"/>
            <a:ext cx="10868745" cy="553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"/>
              <a:buFont typeface="Roboto Medium"/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Acceso y Conectividad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1" name="Google Shape;481;h21647e8e418c3f67_4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871563"/>
            <a:ext cx="6913390" cy="3917652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h21647e8e418c3f67_4_26"/>
          <p:cNvSpPr/>
          <p:nvPr/>
        </p:nvSpPr>
        <p:spPr>
          <a:xfrm>
            <a:off x="8013400" y="1496417"/>
            <a:ext cx="3523070" cy="2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Roboto Medium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Acceso Permanente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h21647e8e418c3f67_4_26"/>
          <p:cNvSpPr/>
          <p:nvPr/>
        </p:nvSpPr>
        <p:spPr>
          <a:xfrm>
            <a:off x="8013400" y="1939429"/>
            <a:ext cx="3523070" cy="1098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Autenticación mediante credenciales individuales (sin segundo factor), aplicaciones actualizadas, autonomía de batería superior a 3 horas.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h21647e8e418c3f67_4_26"/>
          <p:cNvSpPr/>
          <p:nvPr/>
        </p:nvSpPr>
        <p:spPr>
          <a:xfrm>
            <a:off x="8013400" y="3204071"/>
            <a:ext cx="3523070" cy="2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Roboto Medium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Conexión a Internet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h21647e8e418c3f67_4_26"/>
          <p:cNvSpPr/>
          <p:nvPr/>
        </p:nvSpPr>
        <p:spPr>
          <a:xfrm>
            <a:off x="8013400" y="3647083"/>
            <a:ext cx="3523070" cy="1098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Enlace dedicado de alta velocidad con </a:t>
            </a:r>
            <a:r>
              <a:rPr b="1" i="0" lang="en-US" sz="13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Tigo Business (fibra óptica)</a:t>
            </a:r>
            <a:r>
              <a:rPr b="0" i="0" lang="en-US" sz="13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, red segmentada para priorizar VoIP y aplicaciones críticas, enrutadores de doble banda.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h21647e8e418c3f67_4_26"/>
          <p:cNvSpPr/>
          <p:nvPr/>
        </p:nvSpPr>
        <p:spPr>
          <a:xfrm>
            <a:off x="8013400" y="4932462"/>
            <a:ext cx="3523070" cy="1211263"/>
          </a:xfrm>
          <a:prstGeom prst="roundRect">
            <a:avLst>
              <a:gd fmla="val 6144" name="adj"/>
            </a:avLst>
          </a:prstGeom>
          <a:solidFill>
            <a:srgbClr val="4B3F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7" name="Google Shape;487;h21647e8e418c3f67_4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0601" y="5184577"/>
            <a:ext cx="221451" cy="177205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h21647e8e418c3f67_4_26"/>
          <p:cNvSpPr/>
          <p:nvPr/>
        </p:nvSpPr>
        <p:spPr>
          <a:xfrm>
            <a:off x="8589252" y="5126137"/>
            <a:ext cx="2770019" cy="8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Riesgo identificado: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Dependencia de infraestructura local y ausencia de enlace redundante de respaldo.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h21647e8e418c3f67_4_26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h21647e8e418c3f67_4_39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Estructura del Área de Tecnología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h21647e8e418c3f67_4_39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Área de Tecnología existe formalmente como entidad organizacional, dependiendo directamente de </a:t>
            </a:r>
            <a:r>
              <a:rPr b="1" i="0" lang="en-US" sz="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Dirección General</a:t>
            </a:r>
            <a:r>
              <a:rPr b="0" i="0" lang="en-US" sz="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7" name="Google Shape;497;h21647e8e418c3f67_4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129109"/>
            <a:ext cx="5319083" cy="5319216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h21647e8e418c3f67_4_39"/>
          <p:cNvSpPr/>
          <p:nvPr/>
        </p:nvSpPr>
        <p:spPr>
          <a:xfrm>
            <a:off x="6217487" y="3442097"/>
            <a:ext cx="5319083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Medium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Fortaleza y Oportunidad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h21647e8e418c3f67_4_39"/>
          <p:cNvSpPr/>
          <p:nvPr/>
        </p:nvSpPr>
        <p:spPr>
          <a:xfrm>
            <a:off x="6217487" y="3636962"/>
            <a:ext cx="5928668" cy="113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La estructura formal representa una </a:t>
            </a:r>
            <a:r>
              <a:rPr b="1" i="0" lang="en-US" sz="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fortaleza organizacional</a:t>
            </a:r>
            <a:r>
              <a:rPr b="0" i="0" lang="en-US" sz="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, pero requiere: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h21647e8e418c3f67_4_39"/>
          <p:cNvSpPr/>
          <p:nvPr/>
        </p:nvSpPr>
        <p:spPr>
          <a:xfrm>
            <a:off x="6217487" y="3792835"/>
            <a:ext cx="5319083" cy="373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700"/>
              <a:buFont typeface="Roboto"/>
              <a:buChar char="•"/>
            </a:pPr>
            <a:r>
              <a:rPr b="0" i="0" lang="en-US" sz="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Documentación de funciones por subunidad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700"/>
              <a:buFont typeface="Roboto"/>
              <a:buChar char="•"/>
            </a:pPr>
            <a:r>
              <a:rPr b="0" i="0" lang="en-US" sz="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Definición de perfiles de puesto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700"/>
              <a:buFont typeface="Roboto"/>
              <a:buChar char="•"/>
            </a:pPr>
            <a:r>
              <a:rPr b="0" i="0" lang="en-US" sz="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Políticas formales de operación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h21647e8e418c3f67_4_39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h21647e8e418c3f67_4_49"/>
          <p:cNvSpPr/>
          <p:nvPr/>
        </p:nvSpPr>
        <p:spPr>
          <a:xfrm>
            <a:off x="661475" y="1472505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Roboto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Funciones del Área de Tecnología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h21647e8e418c3f67_4_49"/>
          <p:cNvSpPr/>
          <p:nvPr/>
        </p:nvSpPr>
        <p:spPr>
          <a:xfrm>
            <a:off x="661475" y="2441178"/>
            <a:ext cx="5339820" cy="2944316"/>
          </a:xfrm>
          <a:prstGeom prst="roundRect">
            <a:avLst>
              <a:gd fmla="val 2696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h21647e8e418c3f67_4_49"/>
          <p:cNvSpPr/>
          <p:nvPr/>
        </p:nvSpPr>
        <p:spPr>
          <a:xfrm>
            <a:off x="856832" y="2636540"/>
            <a:ext cx="49491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TI y Automatización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h21647e8e418c3f67_4_49"/>
          <p:cNvSpPr/>
          <p:nvPr/>
        </p:nvSpPr>
        <p:spPr>
          <a:xfrm>
            <a:off x="856832" y="3045222"/>
            <a:ext cx="4949106" cy="2144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Char char="•"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Administración de CRM y flujos de automatización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Char char="•"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Herramientas de conversation intelligence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Char char="•"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Gestión de AWS y red corporativa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Char char="•"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Respaldos y DRP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Char char="•"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Gestión de identidades y autenticación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Char char="•"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Monitoreo de seguridad y dashboards de BI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h21647e8e418c3f67_4_49"/>
          <p:cNvSpPr/>
          <p:nvPr/>
        </p:nvSpPr>
        <p:spPr>
          <a:xfrm>
            <a:off x="6190301" y="2441178"/>
            <a:ext cx="5339919" cy="2944316"/>
          </a:xfrm>
          <a:prstGeom prst="roundRect">
            <a:avLst>
              <a:gd fmla="val 2696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h21647e8e418c3f67_4_49"/>
          <p:cNvSpPr/>
          <p:nvPr/>
        </p:nvSpPr>
        <p:spPr>
          <a:xfrm>
            <a:off x="6385658" y="2636540"/>
            <a:ext cx="49492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Soporte Técnico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h21647e8e418c3f67_4_49"/>
          <p:cNvSpPr/>
          <p:nvPr/>
        </p:nvSpPr>
        <p:spPr>
          <a:xfrm>
            <a:off x="6385658" y="3045222"/>
            <a:ext cx="4949205" cy="1407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Char char="•"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Soporte de primer nivel a usuarios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Char char="•"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Gestión de ciclo de vida de hardware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Char char="•"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Procedimientos de alta/baja de personal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Char char="•"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Aseguramiento de calidad de datos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h21647e8e418c3f67_4_49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0" name="Google Shape;520;h21647e8e418c3f67_4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h21647e8e418c3f67_4_60"/>
          <p:cNvSpPr/>
          <p:nvPr/>
        </p:nvSpPr>
        <p:spPr>
          <a:xfrm>
            <a:off x="661475" y="529233"/>
            <a:ext cx="6296860" cy="9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50"/>
              <a:buFont typeface="Roboto Medium"/>
              <a:buNone/>
            </a:pPr>
            <a:r>
              <a:rPr b="0" i="0" lang="en-US" sz="29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Procedimientos Contingentes: Hallazgos Críticos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2" name="Google Shape;522;h21647e8e418c3f67_4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5" y="1650405"/>
            <a:ext cx="6296860" cy="107959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h21647e8e418c3f67_4_60"/>
          <p:cNvSpPr/>
          <p:nvPr/>
        </p:nvSpPr>
        <p:spPr>
          <a:xfrm>
            <a:off x="907333" y="1820069"/>
            <a:ext cx="5881342" cy="235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Respaldo de Datos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h21647e8e418c3f67_4_60"/>
          <p:cNvSpPr/>
          <p:nvPr/>
        </p:nvSpPr>
        <p:spPr>
          <a:xfrm>
            <a:off x="907333" y="2127349"/>
            <a:ext cx="5881342" cy="432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Respaldos automáticos en nube con cifrado y control de versiones, pero </a:t>
            </a:r>
            <a:r>
              <a:rPr b="1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sin política formal documentada</a:t>
            </a: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5" name="Google Shape;525;h21647e8e418c3f67_4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5" y="2849959"/>
            <a:ext cx="6296860" cy="1079599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h21647e8e418c3f67_4_60"/>
          <p:cNvSpPr/>
          <p:nvPr/>
        </p:nvSpPr>
        <p:spPr>
          <a:xfrm>
            <a:off x="907333" y="3019623"/>
            <a:ext cx="5881342" cy="235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Migración y Restauración — </a:t>
            </a:r>
            <a:r>
              <a:rPr b="0" i="0" lang="en-US" sz="1450" u="none" cap="none" strike="noStrike">
                <a:solidFill>
                  <a:srgbClr val="5A6ED8"/>
                </a:solidFill>
                <a:latin typeface="Roboto Medium"/>
                <a:ea typeface="Roboto Medium"/>
                <a:cs typeface="Roboto Medium"/>
                <a:sym typeface="Roboto Medium"/>
              </a:rPr>
              <a:t>Hallazgo H5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h21647e8e418c3f67_4_60"/>
          <p:cNvSpPr/>
          <p:nvPr/>
        </p:nvSpPr>
        <p:spPr>
          <a:xfrm>
            <a:off x="907333" y="3326904"/>
            <a:ext cx="5881342" cy="432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No existe Plan de Recuperación ante Desastres (DRP) documentado, ni pruebas de restauración en los últimos </a:t>
            </a:r>
            <a:r>
              <a:rPr b="1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12 meses</a:t>
            </a: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8" name="Google Shape;528;h21647e8e418c3f67_4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5" y="4049514"/>
            <a:ext cx="6296860" cy="1079599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h21647e8e418c3f67_4_60"/>
          <p:cNvSpPr/>
          <p:nvPr/>
        </p:nvSpPr>
        <p:spPr>
          <a:xfrm>
            <a:off x="907333" y="4219178"/>
            <a:ext cx="5881342" cy="235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Habilitación de Nuevos Servicios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h21647e8e418c3f67_4_60"/>
          <p:cNvSpPr/>
          <p:nvPr/>
        </p:nvSpPr>
        <p:spPr>
          <a:xfrm>
            <a:off x="907333" y="4526459"/>
            <a:ext cx="5881342" cy="432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Sin procedimiento formal; incorporación de herramientas sin metodología de gestión de cambios.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1" name="Google Shape;531;h21647e8e418c3f67_4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5" y="5249069"/>
            <a:ext cx="6296860" cy="1079599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h21647e8e418c3f67_4_60"/>
          <p:cNvSpPr/>
          <p:nvPr/>
        </p:nvSpPr>
        <p:spPr>
          <a:xfrm>
            <a:off x="907333" y="5418733"/>
            <a:ext cx="5881342" cy="235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Conclusión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h21647e8e418c3f67_4_60"/>
          <p:cNvSpPr/>
          <p:nvPr/>
        </p:nvSpPr>
        <p:spPr>
          <a:xfrm>
            <a:off x="907333" y="5726013"/>
            <a:ext cx="5881342" cy="432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Mecanismos básicos de respaldo existen, pero hay </a:t>
            </a:r>
            <a:r>
              <a:rPr b="1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carencia de procedimientos contingentes formales</a:t>
            </a: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que garanticen la continuidad operativa.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h21647e8e418c3f67_4_78"/>
          <p:cNvSpPr/>
          <p:nvPr/>
        </p:nvSpPr>
        <p:spPr>
          <a:xfrm>
            <a:off x="661475" y="715466"/>
            <a:ext cx="10868745" cy="4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Roboto Medium"/>
              <a:buNone/>
            </a:pPr>
            <a:r>
              <a:rPr b="0" i="0" lang="en-US" sz="27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Marco Normativo: Brechas Identificadas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h21647e8e418c3f67_4_78"/>
          <p:cNvSpPr/>
          <p:nvPr/>
        </p:nvSpPr>
        <p:spPr>
          <a:xfrm>
            <a:off x="661475" y="1424186"/>
            <a:ext cx="526143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Lineamientos Existentes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h21647e8e418c3f67_4_78"/>
          <p:cNvSpPr/>
          <p:nvPr/>
        </p:nvSpPr>
        <p:spPr>
          <a:xfrm>
            <a:off x="661475" y="1688108"/>
            <a:ext cx="526143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Hallazgos de Auditoría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h21647e8e418c3f67_4_78"/>
          <p:cNvSpPr/>
          <p:nvPr/>
        </p:nvSpPr>
        <p:spPr>
          <a:xfrm>
            <a:off x="661475" y="2015827"/>
            <a:ext cx="5261439" cy="1141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Char char="•"/>
            </a:pPr>
            <a:r>
              <a:rPr b="1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H1:</a:t>
            </a: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Ausencia de MFA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Char char="•"/>
            </a:pPr>
            <a:r>
              <a:rPr b="1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H2:</a:t>
            </a: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Exportación sin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Char char="•"/>
            </a:pPr>
            <a:r>
              <a:rPr b="1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H3:</a:t>
            </a: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Permisos incompatibles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Char char="•"/>
            </a:pPr>
            <a:r>
              <a:rPr b="1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H4:</a:t>
            </a: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Usuarios operativos con rol administrador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Char char="•"/>
            </a:pPr>
            <a:r>
              <a:rPr b="1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H6:</a:t>
            </a: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Credenciales compartidas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h21647e8e418c3f67_4_78"/>
          <p:cNvSpPr/>
          <p:nvPr/>
        </p:nvSpPr>
        <p:spPr>
          <a:xfrm>
            <a:off x="6275131" y="1424186"/>
            <a:ext cx="526143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Lineamientos Ausentes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h21647e8e418c3f67_4_78"/>
          <p:cNvSpPr/>
          <p:nvPr/>
        </p:nvSpPr>
        <p:spPr>
          <a:xfrm>
            <a:off x="6275131" y="1765201"/>
            <a:ext cx="2577539" cy="1049040"/>
          </a:xfrm>
          <a:prstGeom prst="roundRect">
            <a:avLst>
              <a:gd fmla="val 5676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h21647e8e418c3f67_4_78"/>
          <p:cNvSpPr/>
          <p:nvPr/>
        </p:nvSpPr>
        <p:spPr>
          <a:xfrm>
            <a:off x="6423162" y="1913235"/>
            <a:ext cx="425241" cy="425252"/>
          </a:xfrm>
          <a:prstGeom prst="ellipse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6" name="Google Shape;546;h21647e8e418c3f67_4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0138" y="2030115"/>
            <a:ext cx="191289" cy="191294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h21647e8e418c3f67_4_78"/>
          <p:cNvSpPr/>
          <p:nvPr/>
        </p:nvSpPr>
        <p:spPr>
          <a:xfrm>
            <a:off x="6423162" y="2444750"/>
            <a:ext cx="228147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Uso Aceptable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h21647e8e418c3f67_4_78"/>
          <p:cNvSpPr/>
          <p:nvPr/>
        </p:nvSpPr>
        <p:spPr>
          <a:xfrm>
            <a:off x="8958931" y="1765201"/>
            <a:ext cx="2577639" cy="1049040"/>
          </a:xfrm>
          <a:prstGeom prst="roundRect">
            <a:avLst>
              <a:gd fmla="val 5676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h21647e8e418c3f67_4_78"/>
          <p:cNvSpPr/>
          <p:nvPr/>
        </p:nvSpPr>
        <p:spPr>
          <a:xfrm>
            <a:off x="9106962" y="1913235"/>
            <a:ext cx="425241" cy="425252"/>
          </a:xfrm>
          <a:prstGeom prst="ellipse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h21647e8e418c3f67_4_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23938" y="2030115"/>
            <a:ext cx="191289" cy="191294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h21647e8e418c3f67_4_78"/>
          <p:cNvSpPr/>
          <p:nvPr/>
        </p:nvSpPr>
        <p:spPr>
          <a:xfrm>
            <a:off x="9106962" y="2444750"/>
            <a:ext cx="228157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Gestión de Red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h21647e8e418c3f67_4_78"/>
          <p:cNvSpPr/>
          <p:nvPr/>
        </p:nvSpPr>
        <p:spPr>
          <a:xfrm>
            <a:off x="6275131" y="2920504"/>
            <a:ext cx="2577539" cy="1049040"/>
          </a:xfrm>
          <a:prstGeom prst="roundRect">
            <a:avLst>
              <a:gd fmla="val 5676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h21647e8e418c3f67_4_78"/>
          <p:cNvSpPr/>
          <p:nvPr/>
        </p:nvSpPr>
        <p:spPr>
          <a:xfrm>
            <a:off x="6423162" y="3068538"/>
            <a:ext cx="425241" cy="425252"/>
          </a:xfrm>
          <a:prstGeom prst="ellipse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4" name="Google Shape;554;h21647e8e418c3f67_4_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0138" y="3185418"/>
            <a:ext cx="191289" cy="191294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h21647e8e418c3f67_4_78"/>
          <p:cNvSpPr/>
          <p:nvPr/>
        </p:nvSpPr>
        <p:spPr>
          <a:xfrm>
            <a:off x="6423162" y="3600053"/>
            <a:ext cx="228147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Clasificación de Información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h21647e8e418c3f67_4_78"/>
          <p:cNvSpPr/>
          <p:nvPr/>
        </p:nvSpPr>
        <p:spPr>
          <a:xfrm>
            <a:off x="8958931" y="2920504"/>
            <a:ext cx="2577639" cy="1049040"/>
          </a:xfrm>
          <a:prstGeom prst="roundRect">
            <a:avLst>
              <a:gd fmla="val 5676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h21647e8e418c3f67_4_78"/>
          <p:cNvSpPr/>
          <p:nvPr/>
        </p:nvSpPr>
        <p:spPr>
          <a:xfrm>
            <a:off x="9106962" y="3068538"/>
            <a:ext cx="425241" cy="425252"/>
          </a:xfrm>
          <a:prstGeom prst="ellipse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8" name="Google Shape;558;h21647e8e418c3f67_4_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23938" y="3185418"/>
            <a:ext cx="191289" cy="191294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h21647e8e418c3f67_4_78"/>
          <p:cNvSpPr/>
          <p:nvPr/>
        </p:nvSpPr>
        <p:spPr>
          <a:xfrm>
            <a:off x="9106962" y="3600053"/>
            <a:ext cx="228157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Control de Accesos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h21647e8e418c3f67_4_78"/>
          <p:cNvSpPr/>
          <p:nvPr/>
        </p:nvSpPr>
        <p:spPr>
          <a:xfrm>
            <a:off x="6275131" y="4075807"/>
            <a:ext cx="2577539" cy="1049040"/>
          </a:xfrm>
          <a:prstGeom prst="roundRect">
            <a:avLst>
              <a:gd fmla="val 5676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h21647e8e418c3f67_4_78"/>
          <p:cNvSpPr/>
          <p:nvPr/>
        </p:nvSpPr>
        <p:spPr>
          <a:xfrm>
            <a:off x="6423162" y="4223841"/>
            <a:ext cx="425241" cy="425252"/>
          </a:xfrm>
          <a:prstGeom prst="ellipse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2" name="Google Shape;562;h21647e8e418c3f67_4_7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0138" y="4340721"/>
            <a:ext cx="191289" cy="191294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h21647e8e418c3f67_4_78"/>
          <p:cNvSpPr/>
          <p:nvPr/>
        </p:nvSpPr>
        <p:spPr>
          <a:xfrm>
            <a:off x="6423162" y="4755356"/>
            <a:ext cx="228147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Gestión de Incidentes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h21647e8e418c3f67_4_78"/>
          <p:cNvSpPr/>
          <p:nvPr/>
        </p:nvSpPr>
        <p:spPr>
          <a:xfrm>
            <a:off x="8958931" y="4075807"/>
            <a:ext cx="2577639" cy="1049040"/>
          </a:xfrm>
          <a:prstGeom prst="roundRect">
            <a:avLst>
              <a:gd fmla="val 5676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h21647e8e418c3f67_4_78"/>
          <p:cNvSpPr/>
          <p:nvPr/>
        </p:nvSpPr>
        <p:spPr>
          <a:xfrm>
            <a:off x="9106962" y="4223841"/>
            <a:ext cx="425241" cy="425252"/>
          </a:xfrm>
          <a:prstGeom prst="ellipse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6" name="Google Shape;566;h21647e8e418c3f67_4_7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23938" y="4340721"/>
            <a:ext cx="191289" cy="191294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h21647e8e418c3f67_4_78"/>
          <p:cNvSpPr/>
          <p:nvPr/>
        </p:nvSpPr>
        <p:spPr>
          <a:xfrm>
            <a:off x="9106962" y="4755356"/>
            <a:ext cx="228157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 Medium"/>
              <a:buNone/>
            </a:pPr>
            <a:r>
              <a:rPr b="0" i="0" lang="en-US" sz="13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Respaldo y Recuperación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h21647e8e418c3f67_4_78"/>
          <p:cNvSpPr/>
          <p:nvPr/>
        </p:nvSpPr>
        <p:spPr>
          <a:xfrm>
            <a:off x="6275131" y="5244405"/>
            <a:ext cx="5261439" cy="460573"/>
          </a:xfrm>
          <a:prstGeom prst="roundRect">
            <a:avLst>
              <a:gd fmla="val 12928" name="adj"/>
            </a:avLst>
          </a:prstGeom>
          <a:solidFill>
            <a:srgbClr val="45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9" name="Google Shape;569;h21647e8e418c3f67_4_7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16812" y="5408116"/>
            <a:ext cx="177200" cy="141684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h21647e8e418c3f67_4_78"/>
          <p:cNvSpPr/>
          <p:nvPr/>
        </p:nvSpPr>
        <p:spPr>
          <a:xfrm>
            <a:off x="6735693" y="5375473"/>
            <a:ext cx="5268781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Evidencia clara de necesidad urgente de formalizar políticas informáticas.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1" name="Google Shape;571;h21647e8e418c3f67_4_7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2425" y="5925046"/>
            <a:ext cx="3553331" cy="236538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h21647e8e418c3f67_4_78"/>
          <p:cNvSpPr/>
          <p:nvPr/>
        </p:nvSpPr>
        <p:spPr>
          <a:xfrm>
            <a:off x="841255" y="5944096"/>
            <a:ext cx="3354502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Políticas de privacidad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3" name="Google Shape;573;h21647e8e418c3f67_4_7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09558" y="5925046"/>
            <a:ext cx="3553431" cy="236538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h21647e8e418c3f67_4_78"/>
          <p:cNvSpPr/>
          <p:nvPr/>
        </p:nvSpPr>
        <p:spPr>
          <a:xfrm>
            <a:off x="4508387" y="5944096"/>
            <a:ext cx="3354601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Manual de funciones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5" name="Google Shape;575;h21647e8e418c3f67_4_7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76790" y="5925046"/>
            <a:ext cx="3553431" cy="236538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h21647e8e418c3f67_4_78"/>
          <p:cNvSpPr/>
          <p:nvPr/>
        </p:nvSpPr>
        <p:spPr>
          <a:xfrm>
            <a:off x="8175619" y="5944096"/>
            <a:ext cx="3354601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Reglas básicas de 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h21647e8e418c3f67_4_78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h21647e8e418c3f67_4_120"/>
          <p:cNvSpPr/>
          <p:nvPr/>
        </p:nvSpPr>
        <p:spPr>
          <a:xfrm>
            <a:off x="661475" y="564753"/>
            <a:ext cx="10868745" cy="4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Análisis vs. Marcos de Referencia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h21647e8e418c3f67_4_120"/>
          <p:cNvSpPr/>
          <p:nvPr/>
        </p:nvSpPr>
        <p:spPr>
          <a:xfrm>
            <a:off x="661475" y="1294209"/>
            <a:ext cx="626848" cy="233263"/>
          </a:xfrm>
          <a:prstGeom prst="roundRect">
            <a:avLst>
              <a:gd fmla="val 22122" name="adj"/>
            </a:avLst>
          </a:prstGeom>
          <a:solidFill>
            <a:srgbClr val="0F1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h21647e8e418c3f67_4_120"/>
          <p:cNvSpPr/>
          <p:nvPr/>
        </p:nvSpPr>
        <p:spPr>
          <a:xfrm>
            <a:off x="753548" y="1340247"/>
            <a:ext cx="1052288" cy="141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COBIT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h21647e8e418c3f67_4_120"/>
          <p:cNvSpPr/>
          <p:nvPr/>
        </p:nvSpPr>
        <p:spPr>
          <a:xfrm>
            <a:off x="1365017" y="1294209"/>
            <a:ext cx="983829" cy="233263"/>
          </a:xfrm>
          <a:prstGeom prst="roundRect">
            <a:avLst>
              <a:gd fmla="val 22122" name="adj"/>
            </a:avLst>
          </a:prstGeom>
          <a:noFill/>
          <a:ln cap="flat" cmpd="sng" w="9525">
            <a:solidFill>
              <a:srgbClr val="5A6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h21647e8e418c3f67_4_120"/>
          <p:cNvSpPr/>
          <p:nvPr/>
        </p:nvSpPr>
        <p:spPr>
          <a:xfrm>
            <a:off x="1457090" y="1340247"/>
            <a:ext cx="1409268" cy="141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5A6ED8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5A6ED8"/>
                </a:solidFill>
                <a:latin typeface="Roboto"/>
                <a:ea typeface="Roboto"/>
                <a:cs typeface="Roboto"/>
                <a:sym typeface="Roboto"/>
              </a:rPr>
              <a:t>ISO/IEC 27001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h21647e8e418c3f67_4_120"/>
          <p:cNvSpPr/>
          <p:nvPr/>
        </p:nvSpPr>
        <p:spPr>
          <a:xfrm>
            <a:off x="1131661" y="1720552"/>
            <a:ext cx="1039855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Gestión de Identidades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h21647e8e418c3f67_4_120"/>
          <p:cNvSpPr/>
          <p:nvPr/>
        </p:nvSpPr>
        <p:spPr>
          <a:xfrm>
            <a:off x="1131661" y="2035274"/>
            <a:ext cx="10398559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Credenciales genéricas compartidas impiden rastrear acciones individuales.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h21647e8e418c3f67_4_120"/>
          <p:cNvSpPr/>
          <p:nvPr/>
        </p:nvSpPr>
        <p:spPr>
          <a:xfrm>
            <a:off x="1131661" y="2560241"/>
            <a:ext cx="1039855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Segregación de Funciones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h21647e8e418c3f67_4_120"/>
          <p:cNvSpPr/>
          <p:nvPr/>
        </p:nvSpPr>
        <p:spPr>
          <a:xfrm>
            <a:off x="1131661" y="2874963"/>
            <a:ext cx="10398559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Usuarios operativos con permisos de administrador generan riesgo de fraude y fuga de información.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h21647e8e418c3f67_4_120"/>
          <p:cNvSpPr/>
          <p:nvPr/>
        </p:nvSpPr>
        <p:spPr>
          <a:xfrm>
            <a:off x="1131661" y="3399929"/>
            <a:ext cx="1039855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Autenticación Multifactor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h21647e8e418c3f67_4_120"/>
          <p:cNvSpPr/>
          <p:nvPr/>
        </p:nvSpPr>
        <p:spPr>
          <a:xfrm>
            <a:off x="1131661" y="3714651"/>
            <a:ext cx="10398559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Solo usuario y contraseña; sin MFA aumenta riesgo de acceso no autorizado.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h21647e8e418c3f67_4_120"/>
          <p:cNvSpPr/>
          <p:nvPr/>
        </p:nvSpPr>
        <p:spPr>
          <a:xfrm>
            <a:off x="1131661" y="4239617"/>
            <a:ext cx="1039855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Continuidad del Servicio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h21647e8e418c3f67_4_120"/>
          <p:cNvSpPr/>
          <p:nvPr/>
        </p:nvSpPr>
        <p:spPr>
          <a:xfrm>
            <a:off x="1131661" y="4554339"/>
            <a:ext cx="10398559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Sin DRP ni pruebas de restauración en 12 meses.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h21647e8e418c3f67_4_120"/>
          <p:cNvSpPr/>
          <p:nvPr/>
        </p:nvSpPr>
        <p:spPr>
          <a:xfrm>
            <a:off x="1131661" y="5079305"/>
            <a:ext cx="1039855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Configuración Operativa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h21647e8e418c3f67_4_120"/>
          <p:cNvSpPr/>
          <p:nvPr/>
        </p:nvSpPr>
        <p:spPr>
          <a:xfrm>
            <a:off x="1131661" y="5394027"/>
            <a:ext cx="10398559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Dialer sin cooldown genera llamadas repetitivas en segundos.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h21647e8e418c3f67_4_120"/>
          <p:cNvSpPr/>
          <p:nvPr/>
        </p:nvSpPr>
        <p:spPr>
          <a:xfrm>
            <a:off x="661475" y="5756970"/>
            <a:ext cx="10868745" cy="536178"/>
          </a:xfrm>
          <a:prstGeom prst="roundRect">
            <a:avLst>
              <a:gd fmla="val 12030" name="adj"/>
            </a:avLst>
          </a:prstGeom>
          <a:solidFill>
            <a:srgbClr val="45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9" name="Google Shape;599;h21647e8e418c3f67_4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962" y="5938044"/>
            <a:ext cx="191884" cy="153491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h21647e8e418c3f67_4_120"/>
          <p:cNvSpPr/>
          <p:nvPr/>
        </p:nvSpPr>
        <p:spPr>
          <a:xfrm>
            <a:off x="1160334" y="5919986"/>
            <a:ext cx="10825983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Conclusión:</a:t>
            </a:r>
            <a:r>
              <a:rPr b="0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Nivel de madurez bajo en gestión de seguridad y continuidad; las brechas representan riesgos significativos para la organización.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h21647e8e418c3f67_4_120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h21647e8e418c3f67_4_142"/>
          <p:cNvSpPr/>
          <p:nvPr/>
        </p:nvSpPr>
        <p:spPr>
          <a:xfrm>
            <a:off x="661475" y="548184"/>
            <a:ext cx="10868745" cy="563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Roboto Medium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Recomendaciones Prioritarias 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h21647e8e418c3f67_4_142"/>
          <p:cNvSpPr/>
          <p:nvPr/>
        </p:nvSpPr>
        <p:spPr>
          <a:xfrm>
            <a:off x="661475" y="1454646"/>
            <a:ext cx="360254" cy="225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Light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 Light"/>
                <a:ea typeface="Roboto Light"/>
                <a:cs typeface="Roboto Light"/>
                <a:sym typeface="Roboto Light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h21647e8e418c3f67_4_142"/>
          <p:cNvSpPr/>
          <p:nvPr/>
        </p:nvSpPr>
        <p:spPr>
          <a:xfrm>
            <a:off x="661475" y="1735336"/>
            <a:ext cx="5348551" cy="2540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h21647e8e418c3f67_4_142"/>
          <p:cNvSpPr/>
          <p:nvPr/>
        </p:nvSpPr>
        <p:spPr>
          <a:xfrm>
            <a:off x="661475" y="1876127"/>
            <a:ext cx="5348551" cy="281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Formalizar el Área de Tecnología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h21647e8e418c3f67_4_142"/>
          <p:cNvSpPr/>
          <p:nvPr/>
        </p:nvSpPr>
        <p:spPr>
          <a:xfrm>
            <a:off x="661475" y="2260600"/>
            <a:ext cx="5348551" cy="562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Documentar misión, visión, funciones, perfiles y matriz de roles y permisos.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h21647e8e418c3f67_4_142"/>
          <p:cNvSpPr/>
          <p:nvPr/>
        </p:nvSpPr>
        <p:spPr>
          <a:xfrm>
            <a:off x="6181670" y="1454646"/>
            <a:ext cx="360254" cy="225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Light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 Light"/>
                <a:ea typeface="Roboto Light"/>
                <a:cs typeface="Roboto Light"/>
                <a:sym typeface="Roboto Light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h21647e8e418c3f67_4_142"/>
          <p:cNvSpPr/>
          <p:nvPr/>
        </p:nvSpPr>
        <p:spPr>
          <a:xfrm>
            <a:off x="6181670" y="1735336"/>
            <a:ext cx="5348551" cy="2540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h21647e8e418c3f67_4_142"/>
          <p:cNvSpPr/>
          <p:nvPr/>
        </p:nvSpPr>
        <p:spPr>
          <a:xfrm>
            <a:off x="6181670" y="1876127"/>
            <a:ext cx="5348551" cy="281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Implementar MFA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h21647e8e418c3f67_4_142"/>
          <p:cNvSpPr/>
          <p:nvPr/>
        </p:nvSpPr>
        <p:spPr>
          <a:xfrm>
            <a:off x="6181670" y="2260600"/>
            <a:ext cx="5348551" cy="562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Autenticación multifactor en todos los sistemas críticos: CRM, dialer y consolas cloud.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h21647e8e418c3f67_4_142"/>
          <p:cNvSpPr/>
          <p:nvPr/>
        </p:nvSpPr>
        <p:spPr>
          <a:xfrm>
            <a:off x="661475" y="3130252"/>
            <a:ext cx="360254" cy="225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Light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 Light"/>
                <a:ea typeface="Roboto Light"/>
                <a:cs typeface="Roboto Light"/>
                <a:sym typeface="Roboto Light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h21647e8e418c3f67_4_142"/>
          <p:cNvSpPr/>
          <p:nvPr/>
        </p:nvSpPr>
        <p:spPr>
          <a:xfrm>
            <a:off x="661475" y="3410942"/>
            <a:ext cx="5348551" cy="2540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h21647e8e418c3f67_4_142"/>
          <p:cNvSpPr/>
          <p:nvPr/>
        </p:nvSpPr>
        <p:spPr>
          <a:xfrm>
            <a:off x="661475" y="3551734"/>
            <a:ext cx="5348551" cy="281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Diseñar Matriz de Roles y Permisos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h21647e8e418c3f67_4_142"/>
          <p:cNvSpPr/>
          <p:nvPr/>
        </p:nvSpPr>
        <p:spPr>
          <a:xfrm>
            <a:off x="661475" y="3936206"/>
            <a:ext cx="5348551" cy="562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Alineada con funciones reales, aplicando mínimo privilegio y segregación de funciones.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h21647e8e418c3f67_4_142"/>
          <p:cNvSpPr/>
          <p:nvPr/>
        </p:nvSpPr>
        <p:spPr>
          <a:xfrm>
            <a:off x="6181670" y="3130252"/>
            <a:ext cx="360254" cy="225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Light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 Light"/>
                <a:ea typeface="Roboto Light"/>
                <a:cs typeface="Roboto Light"/>
                <a:sym typeface="Roboto Light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h21647e8e418c3f67_4_142"/>
          <p:cNvSpPr/>
          <p:nvPr/>
        </p:nvSpPr>
        <p:spPr>
          <a:xfrm>
            <a:off x="6181670" y="3410942"/>
            <a:ext cx="5348551" cy="2540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h21647e8e418c3f67_4_142"/>
          <p:cNvSpPr/>
          <p:nvPr/>
        </p:nvSpPr>
        <p:spPr>
          <a:xfrm>
            <a:off x="6181670" y="3551734"/>
            <a:ext cx="5348551" cy="281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Eliminar Credenciales Genéricas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h21647e8e418c3f67_4_142"/>
          <p:cNvSpPr/>
          <p:nvPr/>
        </p:nvSpPr>
        <p:spPr>
          <a:xfrm>
            <a:off x="6181670" y="3936206"/>
            <a:ext cx="5348551" cy="562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Asignar identificadores únicos a cada colaborador para garantizar trazabilidad.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h21647e8e418c3f67_4_142"/>
          <p:cNvSpPr/>
          <p:nvPr/>
        </p:nvSpPr>
        <p:spPr>
          <a:xfrm>
            <a:off x="661475" y="4805859"/>
            <a:ext cx="360254" cy="225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Light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 Light"/>
                <a:ea typeface="Roboto Light"/>
                <a:cs typeface="Roboto Light"/>
                <a:sym typeface="Roboto Light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h21647e8e418c3f67_4_142"/>
          <p:cNvSpPr/>
          <p:nvPr/>
        </p:nvSpPr>
        <p:spPr>
          <a:xfrm>
            <a:off x="661475" y="5086548"/>
            <a:ext cx="5348551" cy="2540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h21647e8e418c3f67_4_142"/>
          <p:cNvSpPr/>
          <p:nvPr/>
        </p:nvSpPr>
        <p:spPr>
          <a:xfrm>
            <a:off x="661475" y="5227340"/>
            <a:ext cx="5348551" cy="281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Desarrollar DRP y BCP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h21647e8e418c3f67_4_142"/>
          <p:cNvSpPr/>
          <p:nvPr/>
        </p:nvSpPr>
        <p:spPr>
          <a:xfrm>
            <a:off x="661475" y="5611813"/>
            <a:ext cx="5348551" cy="562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Plan de Recuperación ante Desastres y Plan de Continuidad del Negocio con pruebas semestrales.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h21647e8e418c3f67_4_142"/>
          <p:cNvSpPr/>
          <p:nvPr/>
        </p:nvSpPr>
        <p:spPr>
          <a:xfrm>
            <a:off x="6181670" y="4805859"/>
            <a:ext cx="360254" cy="225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 Light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 Light"/>
                <a:ea typeface="Roboto Light"/>
                <a:cs typeface="Roboto Light"/>
                <a:sym typeface="Roboto Light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h21647e8e418c3f67_4_142"/>
          <p:cNvSpPr/>
          <p:nvPr/>
        </p:nvSpPr>
        <p:spPr>
          <a:xfrm>
            <a:off x="6181670" y="5086548"/>
            <a:ext cx="5348551" cy="2540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h21647e8e418c3f67_4_142"/>
          <p:cNvSpPr/>
          <p:nvPr/>
        </p:nvSpPr>
        <p:spPr>
          <a:xfrm>
            <a:off x="6181670" y="5227340"/>
            <a:ext cx="5348551" cy="281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Formalizar Políticas de Seguridad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h21647e8e418c3f67_4_142"/>
          <p:cNvSpPr/>
          <p:nvPr/>
        </p:nvSpPr>
        <p:spPr>
          <a:xfrm>
            <a:off x="6181670" y="5611813"/>
            <a:ext cx="5348551" cy="562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Políticas de seguridad de la información y uso aceptable de equipos, red y sistemas.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h21647e8e418c3f67_4_142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21647e8e418c3f67_4_171"/>
          <p:cNvSpPr/>
          <p:nvPr/>
        </p:nvSpPr>
        <p:spPr>
          <a:xfrm>
            <a:off x="661475" y="544711"/>
            <a:ext cx="10868745" cy="5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50"/>
              <a:buFont typeface="Roboto Medium"/>
              <a:buNone/>
            </a:pPr>
            <a:r>
              <a:rPr b="0" i="0" lang="en-US" sz="32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Recomendaciones Prioritarias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9" name="Google Shape;639;h21647e8e418c3f67_4_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350863"/>
            <a:ext cx="5434373" cy="661491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h21647e8e418c3f67_4_171"/>
          <p:cNvSpPr/>
          <p:nvPr/>
        </p:nvSpPr>
        <p:spPr>
          <a:xfrm>
            <a:off x="826769" y="2157016"/>
            <a:ext cx="5103784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Monitoreo y Alertas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h21647e8e418c3f67_4_171"/>
          <p:cNvSpPr/>
          <p:nvPr/>
        </p:nvSpPr>
        <p:spPr>
          <a:xfrm>
            <a:off x="826769" y="2502297"/>
            <a:ext cx="5103784" cy="248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Controles sobre exportación de datos y accesos privilegiados.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2" name="Google Shape;642;h21647e8e418c3f67_4_1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848" y="1350863"/>
            <a:ext cx="5434373" cy="661491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h21647e8e418c3f67_4_171"/>
          <p:cNvSpPr/>
          <p:nvPr/>
        </p:nvSpPr>
        <p:spPr>
          <a:xfrm>
            <a:off x="6261142" y="2157016"/>
            <a:ext cx="5103784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Corregir Dialer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h21647e8e418c3f67_4_171"/>
          <p:cNvSpPr/>
          <p:nvPr/>
        </p:nvSpPr>
        <p:spPr>
          <a:xfrm>
            <a:off x="6261142" y="2502297"/>
            <a:ext cx="5103784" cy="248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Configurar cooldown para evitar llamadas repetitivas.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5" name="Google Shape;645;h21647e8e418c3f67_4_1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2915642"/>
            <a:ext cx="5434373" cy="661491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h21647e8e418c3f67_4_171"/>
          <p:cNvSpPr/>
          <p:nvPr/>
        </p:nvSpPr>
        <p:spPr>
          <a:xfrm>
            <a:off x="826769" y="3721795"/>
            <a:ext cx="5103784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CMDB y Gestión de Cambios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h21647e8e418c3f67_4_171"/>
          <p:cNvSpPr/>
          <p:nvPr/>
        </p:nvSpPr>
        <p:spPr>
          <a:xfrm>
            <a:off x="826769" y="4067076"/>
            <a:ext cx="5103784" cy="496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Inventario automatizado de activos de TI y procedimiento formal de gestión de cambios.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8" name="Google Shape;648;h21647e8e418c3f67_4_1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5848" y="2915642"/>
            <a:ext cx="5434373" cy="661491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h21647e8e418c3f67_4_171"/>
          <p:cNvSpPr/>
          <p:nvPr/>
        </p:nvSpPr>
        <p:spPr>
          <a:xfrm>
            <a:off x="6261142" y="3721795"/>
            <a:ext cx="5103784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Capacitación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h21647e8e418c3f67_4_171"/>
          <p:cNvSpPr/>
          <p:nvPr/>
        </p:nvSpPr>
        <p:spPr>
          <a:xfrm>
            <a:off x="6261142" y="4067076"/>
            <a:ext cx="5103784" cy="496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Personal capacitado en seguridad de la información y protección de datos personales.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h21647e8e418c3f67_4_171"/>
          <p:cNvSpPr/>
          <p:nvPr/>
        </p:nvSpPr>
        <p:spPr>
          <a:xfrm>
            <a:off x="661475" y="5035848"/>
            <a:ext cx="523266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KPIs de Desempeño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h21647e8e418c3f67_4_171"/>
          <p:cNvSpPr/>
          <p:nvPr/>
        </p:nvSpPr>
        <p:spPr>
          <a:xfrm>
            <a:off x="661475" y="5438973"/>
            <a:ext cx="5232666" cy="496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Establecer indicadores para medir eficacia de controles e implementar mejora continua.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h21647e8e418c3f67_4_171"/>
          <p:cNvSpPr/>
          <p:nvPr/>
        </p:nvSpPr>
        <p:spPr>
          <a:xfrm>
            <a:off x="6184844" y="4891187"/>
            <a:ext cx="5470785" cy="1422102"/>
          </a:xfrm>
          <a:prstGeom prst="roundRect">
            <a:avLst>
              <a:gd fmla="val 8374" name="adj"/>
            </a:avLst>
          </a:prstGeom>
          <a:solidFill>
            <a:srgbClr val="5A6ED8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h21647e8e418c3f67_4_171"/>
          <p:cNvSpPr/>
          <p:nvPr/>
        </p:nvSpPr>
        <p:spPr>
          <a:xfrm>
            <a:off x="6350139" y="5035848"/>
            <a:ext cx="514019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Medium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SLAs con Proveedores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h21647e8e418c3f67_4_171"/>
          <p:cNvSpPr/>
          <p:nvPr/>
        </p:nvSpPr>
        <p:spPr>
          <a:xfrm>
            <a:off x="6350139" y="5438973"/>
            <a:ext cx="5140196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Formalizar acuerdos de nivel de servicio con proveedores tecnológicos, incluyendo cláusulas de confidencialidad y responsabilidad.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h21647e8e418c3f67_4_171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2" name="Google Shape;662;h21647e8e418c3f67_6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h21647e8e418c3f67_6_0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Roboto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Auditoría de Tecnologías de la Información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h21647e8e418c3f67_6_0"/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Políticas Informáticas y Planificación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0" name="Google Shape;670;h21647e8e418c3f67_6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h21647e8e418c3f67_6_8"/>
          <p:cNvSpPr/>
          <p:nvPr/>
        </p:nvSpPr>
        <p:spPr>
          <a:xfrm>
            <a:off x="661475" y="530721"/>
            <a:ext cx="6296860" cy="1126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Roboto Medium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Políticas Informáticas: Estado Actual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h21647e8e418c3f67_6_8"/>
          <p:cNvSpPr/>
          <p:nvPr/>
        </p:nvSpPr>
        <p:spPr>
          <a:xfrm>
            <a:off x="661475" y="1914426"/>
            <a:ext cx="6296860" cy="1125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La mayoría de las políticas informáticas no están formalmente institucionalizadas. Existen prácticas informales y algunos documentos parciales, pero la ausencia de un marco normativo completo contribuye a los riesgos identificados en la auditoría.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h21647e8e418c3f67_6_8"/>
          <p:cNvSpPr/>
          <p:nvPr/>
        </p:nvSpPr>
        <p:spPr>
          <a:xfrm>
            <a:off x="661475" y="3233539"/>
            <a:ext cx="3062608" cy="1601788"/>
          </a:xfrm>
          <a:prstGeom prst="roundRect">
            <a:avLst>
              <a:gd fmla="val 4724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h21647e8e418c3f67_6_8"/>
          <p:cNvSpPr/>
          <p:nvPr/>
        </p:nvSpPr>
        <p:spPr>
          <a:xfrm>
            <a:off x="847902" y="3419971"/>
            <a:ext cx="2689753" cy="281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Políticas Formales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h21647e8e418c3f67_6_8"/>
          <p:cNvSpPr/>
          <p:nvPr/>
        </p:nvSpPr>
        <p:spPr>
          <a:xfrm>
            <a:off x="847902" y="3804444"/>
            <a:ext cx="2689753" cy="562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Ninguna política completamente formalizada e institucionalizada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h21647e8e418c3f67_6_8"/>
          <p:cNvSpPr/>
          <p:nvPr/>
        </p:nvSpPr>
        <p:spPr>
          <a:xfrm>
            <a:off x="3895727" y="3233539"/>
            <a:ext cx="3062608" cy="1601788"/>
          </a:xfrm>
          <a:prstGeom prst="roundRect">
            <a:avLst>
              <a:gd fmla="val 4724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h21647e8e418c3f67_6_8"/>
          <p:cNvSpPr/>
          <p:nvPr/>
        </p:nvSpPr>
        <p:spPr>
          <a:xfrm>
            <a:off x="4082154" y="3419971"/>
            <a:ext cx="2689753" cy="281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Políticas Parciales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h21647e8e418c3f67_6_8"/>
          <p:cNvSpPr/>
          <p:nvPr/>
        </p:nvSpPr>
        <p:spPr>
          <a:xfrm>
            <a:off x="4082154" y="3804444"/>
            <a:ext cx="2689753" cy="844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Prácticas informales y documentos incompletos en varias áreas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h21647e8e418c3f67_6_8"/>
          <p:cNvSpPr/>
          <p:nvPr/>
        </p:nvSpPr>
        <p:spPr>
          <a:xfrm>
            <a:off x="661475" y="5006975"/>
            <a:ext cx="6296860" cy="1320304"/>
          </a:xfrm>
          <a:prstGeom prst="roundRect">
            <a:avLst>
              <a:gd fmla="val 5731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h21647e8e418c3f67_6_8"/>
          <p:cNvSpPr/>
          <p:nvPr/>
        </p:nvSpPr>
        <p:spPr>
          <a:xfrm>
            <a:off x="847902" y="5193407"/>
            <a:ext cx="5924005" cy="281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Riesgo Identificado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h21647e8e418c3f67_6_8"/>
          <p:cNvSpPr/>
          <p:nvPr/>
        </p:nvSpPr>
        <p:spPr>
          <a:xfrm>
            <a:off x="847902" y="5577880"/>
            <a:ext cx="5924005" cy="562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Marco normativo incompleto que expone a la organización a vulnerabilidades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7" name="Google Shape;687;h21647e8e418c3f67_6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466552"/>
            <a:ext cx="6925990" cy="3924796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h21647e8e418c3f67_6_24"/>
          <p:cNvSpPr/>
          <p:nvPr/>
        </p:nvSpPr>
        <p:spPr>
          <a:xfrm>
            <a:off x="7990084" y="692944"/>
            <a:ext cx="840759" cy="246856"/>
          </a:xfrm>
          <a:prstGeom prst="roundRect">
            <a:avLst>
              <a:gd fmla="val 22110" name="adj"/>
            </a:avLst>
          </a:prstGeom>
          <a:solidFill>
            <a:srgbClr val="0F1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h21647e8e418c3f67_6_24"/>
          <p:cNvSpPr/>
          <p:nvPr/>
        </p:nvSpPr>
        <p:spPr>
          <a:xfrm>
            <a:off x="8087515" y="741660"/>
            <a:ext cx="1255483" cy="149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DOMINIO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h21647e8e418c3f67_6_24"/>
          <p:cNvSpPr/>
          <p:nvPr/>
        </p:nvSpPr>
        <p:spPr>
          <a:xfrm>
            <a:off x="7990084" y="995561"/>
            <a:ext cx="3546485" cy="1015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 Medium"/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Uso de Equipos de Cómputo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1" name="Google Shape;691;h21647e8e418c3f67_6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0084" y="2167731"/>
            <a:ext cx="3546485" cy="997843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h21647e8e418c3f67_6_24"/>
          <p:cNvSpPr/>
          <p:nvPr/>
        </p:nvSpPr>
        <p:spPr>
          <a:xfrm>
            <a:off x="8247749" y="2349202"/>
            <a:ext cx="3107354" cy="253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Estado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h21647e8e418c3f67_6_24"/>
          <p:cNvSpPr/>
          <p:nvPr/>
        </p:nvSpPr>
        <p:spPr>
          <a:xfrm>
            <a:off x="8247749" y="2742505"/>
            <a:ext cx="3107354" cy="241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No existe política formal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4" name="Google Shape;694;h21647e8e418c3f67_6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90084" y="3305076"/>
            <a:ext cx="3546485" cy="1481038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h21647e8e418c3f67_6_24"/>
          <p:cNvSpPr/>
          <p:nvPr/>
        </p:nvSpPr>
        <p:spPr>
          <a:xfrm>
            <a:off x="8247749" y="3486547"/>
            <a:ext cx="3107354" cy="253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Hallazgo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h21647e8e418c3f67_6_24"/>
          <p:cNvSpPr/>
          <p:nvPr/>
        </p:nvSpPr>
        <p:spPr>
          <a:xfrm>
            <a:off x="8247749" y="3879850"/>
            <a:ext cx="3107354" cy="72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Los equipos se entregan configurados, pero no hay una política de uso aceptable ni consecuencias por mal uso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7" name="Google Shape;697;h21647e8e418c3f67_6_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90084" y="4925616"/>
            <a:ext cx="3546485" cy="1239441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h21647e8e418c3f67_6_24"/>
          <p:cNvSpPr/>
          <p:nvPr/>
        </p:nvSpPr>
        <p:spPr>
          <a:xfrm>
            <a:off x="8247749" y="5107087"/>
            <a:ext cx="3107354" cy="253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Acción Requerida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h21647e8e418c3f67_6_24"/>
          <p:cNvSpPr/>
          <p:nvPr/>
        </p:nvSpPr>
        <p:spPr>
          <a:xfrm>
            <a:off x="8247749" y="5500390"/>
            <a:ext cx="3107354" cy="4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Elaborar una </a:t>
            </a:r>
            <a:r>
              <a:rPr b="1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Política de Uso de Equipos de Cómputo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h21647e8e418c3f67_6_24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h21647e8e418c3f67_6_41"/>
          <p:cNvSpPr/>
          <p:nvPr/>
        </p:nvSpPr>
        <p:spPr>
          <a:xfrm>
            <a:off x="661475" y="666155"/>
            <a:ext cx="764362" cy="224334"/>
          </a:xfrm>
          <a:prstGeom prst="roundRect">
            <a:avLst>
              <a:gd fmla="val 22118" name="adj"/>
            </a:avLst>
          </a:prstGeom>
          <a:solidFill>
            <a:srgbClr val="0F1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h21647e8e418c3f67_6_41"/>
          <p:cNvSpPr/>
          <p:nvPr/>
        </p:nvSpPr>
        <p:spPr>
          <a:xfrm>
            <a:off x="750075" y="710406"/>
            <a:ext cx="1196747" cy="135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DOMINIO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h21647e8e418c3f67_6_41"/>
          <p:cNvSpPr/>
          <p:nvPr/>
        </p:nvSpPr>
        <p:spPr>
          <a:xfrm>
            <a:off x="661475" y="936625"/>
            <a:ext cx="3569901" cy="1384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Roboto Medium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Red de Comunicación y Colaboración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9" name="Google Shape;709;h21647e8e418c3f67_6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450802"/>
            <a:ext cx="3569901" cy="889695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h21647e8e418c3f67_6_41"/>
          <p:cNvSpPr/>
          <p:nvPr/>
        </p:nvSpPr>
        <p:spPr>
          <a:xfrm>
            <a:off x="904356" y="2617490"/>
            <a:ext cx="3160336" cy="230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Estado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h21647e8e418c3f67_6_41"/>
          <p:cNvSpPr/>
          <p:nvPr/>
        </p:nvSpPr>
        <p:spPr>
          <a:xfrm>
            <a:off x="904356" y="2963466"/>
            <a:ext cx="3160336" cy="210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Política parcial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2" name="Google Shape;712;h21647e8e418c3f67_6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5" y="3455789"/>
            <a:ext cx="3569901" cy="1520726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h21647e8e418c3f67_6_41"/>
          <p:cNvSpPr/>
          <p:nvPr/>
        </p:nvSpPr>
        <p:spPr>
          <a:xfrm>
            <a:off x="904356" y="3622477"/>
            <a:ext cx="3160336" cy="230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Hallazgo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h21647e8e418c3f67_6_41"/>
          <p:cNvSpPr/>
          <p:nvPr/>
        </p:nvSpPr>
        <p:spPr>
          <a:xfrm>
            <a:off x="904356" y="3968452"/>
            <a:ext cx="3160336" cy="841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Se exige el uso de la red local corporativa, pero no existe política formal sobre correo electrónico, almacenamiento en la nube, mensajería interna o navegación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5" name="Google Shape;715;h21647e8e418c3f67_6_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5091807"/>
            <a:ext cx="3569901" cy="1100038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h21647e8e418c3f67_6_41"/>
          <p:cNvSpPr/>
          <p:nvPr/>
        </p:nvSpPr>
        <p:spPr>
          <a:xfrm>
            <a:off x="904356" y="5258495"/>
            <a:ext cx="3160336" cy="230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Acción Requerida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h21647e8e418c3f67_6_41"/>
          <p:cNvSpPr/>
          <p:nvPr/>
        </p:nvSpPr>
        <p:spPr>
          <a:xfrm>
            <a:off x="904356" y="5604470"/>
            <a:ext cx="3160336" cy="4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Falta una </a:t>
            </a:r>
            <a:r>
              <a:rPr b="1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Política de Uso Aceptable de Red y Colaboración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8" name="Google Shape;718;h21647e8e418c3f67_6_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97880" y="1462980"/>
            <a:ext cx="6938590" cy="393194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h21647e8e418c3f67_6_41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5" name="Google Shape;725;h21647e8e418c3f67_6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h21647e8e418c3f67_6_58"/>
          <p:cNvSpPr/>
          <p:nvPr/>
        </p:nvSpPr>
        <p:spPr>
          <a:xfrm>
            <a:off x="5233360" y="726182"/>
            <a:ext cx="6296860" cy="1144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Medium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Uso y Manejo de la Información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h21647e8e418c3f67_6_58"/>
          <p:cNvSpPr/>
          <p:nvPr/>
        </p:nvSpPr>
        <p:spPr>
          <a:xfrm>
            <a:off x="5233360" y="2136577"/>
            <a:ext cx="947416" cy="278110"/>
          </a:xfrm>
          <a:prstGeom prst="roundRect">
            <a:avLst>
              <a:gd fmla="val 22123" name="adj"/>
            </a:avLst>
          </a:prstGeom>
          <a:noFill/>
          <a:ln cap="flat" cmpd="sng" w="9525">
            <a:solidFill>
              <a:srgbClr val="5A6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h21647e8e418c3f67_6_58"/>
          <p:cNvSpPr/>
          <p:nvPr/>
        </p:nvSpPr>
        <p:spPr>
          <a:xfrm>
            <a:off x="5343193" y="2191445"/>
            <a:ext cx="1337336" cy="168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5A6E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5A6ED8"/>
                </a:solidFill>
                <a:latin typeface="Roboto"/>
                <a:ea typeface="Roboto"/>
                <a:cs typeface="Roboto"/>
                <a:sym typeface="Roboto"/>
              </a:rPr>
              <a:t>DOMINIO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h21647e8e418c3f67_6_58"/>
          <p:cNvSpPr/>
          <p:nvPr/>
        </p:nvSpPr>
        <p:spPr>
          <a:xfrm>
            <a:off x="5233360" y="2614216"/>
            <a:ext cx="411946" cy="411956"/>
          </a:xfrm>
          <a:prstGeom prst="roundRect">
            <a:avLst>
              <a:gd fmla="val 1866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h21647e8e418c3f67_6_58"/>
          <p:cNvSpPr/>
          <p:nvPr/>
        </p:nvSpPr>
        <p:spPr>
          <a:xfrm>
            <a:off x="5822606" y="2677120"/>
            <a:ext cx="5707614" cy="28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00"/>
              <a:buFont typeface="Roboto Medium"/>
              <a:buNone/>
            </a:pPr>
            <a:r>
              <a:rPr b="0" i="0" lang="en-US" sz="18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Estado: Política parcial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h21647e8e418c3f67_6_58"/>
          <p:cNvSpPr/>
          <p:nvPr/>
        </p:nvSpPr>
        <p:spPr>
          <a:xfrm>
            <a:off x="5822606" y="3069530"/>
            <a:ext cx="5707614" cy="576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Existen políticas de privacidad y consentimiento alineadas parcialmente con la Ley No. 787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h21647e8e418c3f67_6_58"/>
          <p:cNvSpPr/>
          <p:nvPr/>
        </p:nvSpPr>
        <p:spPr>
          <a:xfrm>
            <a:off x="5233360" y="4001095"/>
            <a:ext cx="411946" cy="411956"/>
          </a:xfrm>
          <a:prstGeom prst="roundRect">
            <a:avLst>
              <a:gd fmla="val 1866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h21647e8e418c3f67_6_58"/>
          <p:cNvSpPr/>
          <p:nvPr/>
        </p:nvSpPr>
        <p:spPr>
          <a:xfrm>
            <a:off x="5822606" y="4064000"/>
            <a:ext cx="5707614" cy="28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00"/>
              <a:buFont typeface="Roboto Medium"/>
              <a:buNone/>
            </a:pPr>
            <a:r>
              <a:rPr b="0" i="0" lang="en-US" sz="18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Hallazgo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h21647e8e418c3f67_6_58"/>
          <p:cNvSpPr/>
          <p:nvPr/>
        </p:nvSpPr>
        <p:spPr>
          <a:xfrm>
            <a:off x="5822606" y="4456410"/>
            <a:ext cx="5707614" cy="576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No hay política de clasificación de la información, etiquetado, manejo de datos sensibles o retención documental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h21647e8e418c3f67_6_58"/>
          <p:cNvSpPr/>
          <p:nvPr/>
        </p:nvSpPr>
        <p:spPr>
          <a:xfrm>
            <a:off x="5233360" y="5387975"/>
            <a:ext cx="411946" cy="411956"/>
          </a:xfrm>
          <a:prstGeom prst="roundRect">
            <a:avLst>
              <a:gd fmla="val 1866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h21647e8e418c3f67_6_58"/>
          <p:cNvSpPr/>
          <p:nvPr/>
        </p:nvSpPr>
        <p:spPr>
          <a:xfrm>
            <a:off x="5822606" y="5450880"/>
            <a:ext cx="5707614" cy="28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00"/>
              <a:buFont typeface="Roboto Medium"/>
              <a:buNone/>
            </a:pPr>
            <a:r>
              <a:rPr b="0" i="0" lang="en-US" sz="18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Acción Requerida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h21647e8e418c3f67_6_58"/>
          <p:cNvSpPr/>
          <p:nvPr/>
        </p:nvSpPr>
        <p:spPr>
          <a:xfrm>
            <a:off x="5822606" y="5843290"/>
            <a:ext cx="5707614" cy="288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Fortalecer con una </a:t>
            </a:r>
            <a:r>
              <a:rPr b="1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Política de Clasificación y Manejo de Información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h21647e8e418c3f67_6_58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4" name="Google Shape;744;h21647e8e418c3f67_6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462980"/>
            <a:ext cx="6938590" cy="393194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h21647e8e418c3f67_6_75"/>
          <p:cNvSpPr/>
          <p:nvPr/>
        </p:nvSpPr>
        <p:spPr>
          <a:xfrm>
            <a:off x="7966570" y="791666"/>
            <a:ext cx="764362" cy="224334"/>
          </a:xfrm>
          <a:prstGeom prst="roundRect">
            <a:avLst>
              <a:gd fmla="val 22118" name="adj"/>
            </a:avLst>
          </a:prstGeom>
          <a:solidFill>
            <a:srgbClr val="0F1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h21647e8e418c3f67_6_75"/>
          <p:cNvSpPr/>
          <p:nvPr/>
        </p:nvSpPr>
        <p:spPr>
          <a:xfrm>
            <a:off x="8055170" y="835918"/>
            <a:ext cx="1196747" cy="135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DOMINIO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h21647e8e418c3f67_6_75"/>
          <p:cNvSpPr/>
          <p:nvPr/>
        </p:nvSpPr>
        <p:spPr>
          <a:xfrm>
            <a:off x="7966570" y="1062137"/>
            <a:ext cx="3569901" cy="922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Roboto Medium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Acceso a Infraestructura Cloud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8" name="Google Shape;748;h21647e8e418c3f67_6_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6570" y="2114848"/>
            <a:ext cx="3569901" cy="889695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h21647e8e418c3f67_6_75"/>
          <p:cNvSpPr/>
          <p:nvPr/>
        </p:nvSpPr>
        <p:spPr>
          <a:xfrm>
            <a:off x="8209452" y="2281535"/>
            <a:ext cx="3160336" cy="230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Estado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h21647e8e418c3f67_6_75"/>
          <p:cNvSpPr/>
          <p:nvPr/>
        </p:nvSpPr>
        <p:spPr>
          <a:xfrm>
            <a:off x="8209452" y="2627511"/>
            <a:ext cx="3160336" cy="210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No formal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1" name="Google Shape;751;h21647e8e418c3f67_6_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66570" y="3119834"/>
            <a:ext cx="3569901" cy="173107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h21647e8e418c3f67_6_75"/>
          <p:cNvSpPr/>
          <p:nvPr/>
        </p:nvSpPr>
        <p:spPr>
          <a:xfrm>
            <a:off x="8209452" y="3286522"/>
            <a:ext cx="3160336" cy="230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Hallazgo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h21647e8e418c3f67_6_75"/>
          <p:cNvSpPr/>
          <p:nvPr/>
        </p:nvSpPr>
        <p:spPr>
          <a:xfrm>
            <a:off x="8209452" y="3632498"/>
            <a:ext cx="3160336" cy="1051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La organización opera 100% en la nube; el acceso a consolas cloud está restringido al equipo tecnológico. No existe una política documentada que defina niveles de acceso, autorización y monitoreo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4" name="Google Shape;754;h21647e8e418c3f67_6_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66570" y="4966196"/>
            <a:ext cx="3569901" cy="1100038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h21647e8e418c3f67_6_75"/>
          <p:cNvSpPr/>
          <p:nvPr/>
        </p:nvSpPr>
        <p:spPr>
          <a:xfrm>
            <a:off x="8209452" y="5132884"/>
            <a:ext cx="3160336" cy="230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Acción Requerida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h21647e8e418c3f67_6_75"/>
          <p:cNvSpPr/>
          <p:nvPr/>
        </p:nvSpPr>
        <p:spPr>
          <a:xfrm>
            <a:off x="8209452" y="5478859"/>
            <a:ext cx="3160336" cy="4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Formalizar una </a:t>
            </a:r>
            <a:r>
              <a:rPr b="1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Política de Control de Acceso Lógico</a:t>
            </a: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a la infraestructura cloud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h21647e8e418c3f67_6_75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h21647e8e418c3f67_6_92"/>
          <p:cNvSpPr/>
          <p:nvPr/>
        </p:nvSpPr>
        <p:spPr>
          <a:xfrm>
            <a:off x="661475" y="724595"/>
            <a:ext cx="779542" cy="228898"/>
          </a:xfrm>
          <a:prstGeom prst="roundRect">
            <a:avLst>
              <a:gd fmla="val 22110" name="adj"/>
            </a:avLst>
          </a:prstGeom>
          <a:solidFill>
            <a:srgbClr val="0F1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h21647e8e418c3f67_6_92"/>
          <p:cNvSpPr/>
          <p:nvPr/>
        </p:nvSpPr>
        <p:spPr>
          <a:xfrm>
            <a:off x="751762" y="769739"/>
            <a:ext cx="1208553" cy="138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DOMINIO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h21647e8e418c3f67_6_92"/>
          <p:cNvSpPr/>
          <p:nvPr/>
        </p:nvSpPr>
        <p:spPr>
          <a:xfrm>
            <a:off x="661475" y="1001415"/>
            <a:ext cx="3565138" cy="9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50"/>
              <a:buFont typeface="Roboto Medium"/>
              <a:buNone/>
            </a:pPr>
            <a:r>
              <a:rPr b="0" i="0" lang="en-US" sz="29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Uso de Sistemas de Información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6" name="Google Shape;766;h21647e8e418c3f67_6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077541"/>
            <a:ext cx="3565138" cy="911126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h21647e8e418c3f67_6_92"/>
          <p:cNvSpPr/>
          <p:nvPr/>
        </p:nvSpPr>
        <p:spPr>
          <a:xfrm>
            <a:off x="907333" y="2247205"/>
            <a:ext cx="3149620" cy="235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Estado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h21647e8e418c3f67_6_92"/>
          <p:cNvSpPr/>
          <p:nvPr/>
        </p:nvSpPr>
        <p:spPr>
          <a:xfrm>
            <a:off x="907333" y="2602508"/>
            <a:ext cx="3149620" cy="21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Política parcial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9" name="Google Shape;769;h21647e8e418c3f67_6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5" y="3108623"/>
            <a:ext cx="3565138" cy="1777107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h21647e8e418c3f67_6_92"/>
          <p:cNvSpPr/>
          <p:nvPr/>
        </p:nvSpPr>
        <p:spPr>
          <a:xfrm>
            <a:off x="907333" y="3278287"/>
            <a:ext cx="3149620" cy="235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Hallazgo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h21647e8e418c3f67_6_92"/>
          <p:cNvSpPr/>
          <p:nvPr/>
        </p:nvSpPr>
        <p:spPr>
          <a:xfrm>
            <a:off x="907333" y="3633589"/>
            <a:ext cx="3149620" cy="1082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manual de funciones define roles y responsabilidades, pero los permisos reales en el CRM no están alineados con dichas funciones. No hay una política de control de accesos, revisión periódica ni uso de sistemas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2" name="Google Shape;772;h21647e8e418c3f67_6_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5005685"/>
            <a:ext cx="3565138" cy="11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h21647e8e418c3f67_6_92"/>
          <p:cNvSpPr/>
          <p:nvPr/>
        </p:nvSpPr>
        <p:spPr>
          <a:xfrm>
            <a:off x="907333" y="5175349"/>
            <a:ext cx="3149620" cy="235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Acción Requerida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h21647e8e418c3f67_6_92"/>
          <p:cNvSpPr/>
          <p:nvPr/>
        </p:nvSpPr>
        <p:spPr>
          <a:xfrm>
            <a:off x="907333" y="5530652"/>
            <a:ext cx="3149620" cy="432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Requerida una </a:t>
            </a:r>
            <a:r>
              <a:rPr b="1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Política de Uso de Sistemas de Información y Control de Accesos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5" name="Google Shape;775;h21647e8e418c3f67_6_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00460" y="1463675"/>
            <a:ext cx="6936011" cy="3930452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h21647e8e418c3f67_6_92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82" name="Google Shape;782;h21647e8e418c3f67_6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h21647e8e418c3f67_6_109"/>
          <p:cNvSpPr/>
          <p:nvPr/>
        </p:nvSpPr>
        <p:spPr>
          <a:xfrm>
            <a:off x="661475" y="532507"/>
            <a:ext cx="6296860" cy="1015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 Medium"/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Planificación Informática: Hallazgos Críticos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h21647e8e418c3f67_6_109"/>
          <p:cNvSpPr/>
          <p:nvPr/>
        </p:nvSpPr>
        <p:spPr>
          <a:xfrm>
            <a:off x="661475" y="1757065"/>
            <a:ext cx="6296860" cy="916682"/>
          </a:xfrm>
          <a:prstGeom prst="roundRect">
            <a:avLst>
              <a:gd fmla="val 7442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h21647e8e418c3f67_6_109"/>
          <p:cNvSpPr/>
          <p:nvPr/>
        </p:nvSpPr>
        <p:spPr>
          <a:xfrm>
            <a:off x="830242" y="1925836"/>
            <a:ext cx="5959326" cy="253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Sin PETI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h21647e8e418c3f67_6_109"/>
          <p:cNvSpPr/>
          <p:nvPr/>
        </p:nvSpPr>
        <p:spPr>
          <a:xfrm>
            <a:off x="830242" y="2263378"/>
            <a:ext cx="5959326" cy="241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No existe un Plan Estratégico de TI (PETI) documentado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h21647e8e418c3f67_6_109"/>
          <p:cNvSpPr/>
          <p:nvPr/>
        </p:nvSpPr>
        <p:spPr>
          <a:xfrm>
            <a:off x="661475" y="2813248"/>
            <a:ext cx="6296860" cy="1158280"/>
          </a:xfrm>
          <a:prstGeom prst="roundRect">
            <a:avLst>
              <a:gd fmla="val 5890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h21647e8e418c3f67_6_109"/>
          <p:cNvSpPr/>
          <p:nvPr/>
        </p:nvSpPr>
        <p:spPr>
          <a:xfrm>
            <a:off x="830242" y="2982020"/>
            <a:ext cx="5959326" cy="253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Decisiones Reactivas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h21647e8e418c3f67_6_109"/>
          <p:cNvSpPr/>
          <p:nvPr/>
        </p:nvSpPr>
        <p:spPr>
          <a:xfrm>
            <a:off x="830242" y="3319562"/>
            <a:ext cx="5959326" cy="4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Las decisiones tecnológicas son reactivas, orientadas a resolver necesidades inmediatas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h21647e8e418c3f67_6_109"/>
          <p:cNvSpPr/>
          <p:nvPr/>
        </p:nvSpPr>
        <p:spPr>
          <a:xfrm>
            <a:off x="661475" y="4111030"/>
            <a:ext cx="6296860" cy="916682"/>
          </a:xfrm>
          <a:prstGeom prst="roundRect">
            <a:avLst>
              <a:gd fmla="val 7442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h21647e8e418c3f67_6_109"/>
          <p:cNvSpPr/>
          <p:nvPr/>
        </p:nvSpPr>
        <p:spPr>
          <a:xfrm>
            <a:off x="830242" y="4279801"/>
            <a:ext cx="5959326" cy="253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Sin Presupuesto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h21647e8e418c3f67_6_109"/>
          <p:cNvSpPr/>
          <p:nvPr/>
        </p:nvSpPr>
        <p:spPr>
          <a:xfrm>
            <a:off x="830242" y="4617343"/>
            <a:ext cx="5959326" cy="241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No hay presupuesto informático separado ni planificación de adquisiciones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h21647e8e418c3f67_6_109"/>
          <p:cNvSpPr/>
          <p:nvPr/>
        </p:nvSpPr>
        <p:spPr>
          <a:xfrm>
            <a:off x="661475" y="5167213"/>
            <a:ext cx="6296860" cy="1158280"/>
          </a:xfrm>
          <a:prstGeom prst="roundRect">
            <a:avLst>
              <a:gd fmla="val 5890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h21647e8e418c3f67_6_109"/>
          <p:cNvSpPr/>
          <p:nvPr/>
        </p:nvSpPr>
        <p:spPr>
          <a:xfrm>
            <a:off x="830242" y="5335984"/>
            <a:ext cx="5959326" cy="253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Roboto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Desalineación Estratégica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h21647e8e418c3f67_6_109"/>
          <p:cNvSpPr/>
          <p:nvPr/>
        </p:nvSpPr>
        <p:spPr>
          <a:xfrm>
            <a:off x="830242" y="5673527"/>
            <a:ext cx="5959326" cy="4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La tecnología no está formalmente alineada con los objetivos estratégicos del negocio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01" name="Google Shape;801;h21647e8e418c3f67_6_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463675"/>
            <a:ext cx="6936011" cy="3930452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h21647e8e418c3f67_6_127"/>
          <p:cNvSpPr/>
          <p:nvPr/>
        </p:nvSpPr>
        <p:spPr>
          <a:xfrm>
            <a:off x="7971333" y="711498"/>
            <a:ext cx="3565138" cy="1411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50"/>
              <a:buFont typeface="Roboto Medium"/>
              <a:buNone/>
            </a:pPr>
            <a:r>
              <a:rPr b="0" i="0" lang="en-US" sz="29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Impacto de la Ausencia de Planificación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3" name="Google Shape;803;h21647e8e418c3f67_6_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87" y="2262832"/>
            <a:ext cx="225915" cy="225921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h21647e8e418c3f67_6_127"/>
          <p:cNvSpPr/>
          <p:nvPr/>
        </p:nvSpPr>
        <p:spPr>
          <a:xfrm>
            <a:off x="8460766" y="2258219"/>
            <a:ext cx="3075704" cy="235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Capacidad Limitada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h21647e8e418c3f67_6_127"/>
          <p:cNvSpPr/>
          <p:nvPr/>
        </p:nvSpPr>
        <p:spPr>
          <a:xfrm>
            <a:off x="8460766" y="2613521"/>
            <a:ext cx="3075704" cy="432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Limita la capacidad de anticipar necesidades de infraestructura y crecimiento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6" name="Google Shape;806;h21647e8e418c3f67_6_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87" y="3291136"/>
            <a:ext cx="225915" cy="225921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h21647e8e418c3f67_6_127"/>
          <p:cNvSpPr/>
          <p:nvPr/>
        </p:nvSpPr>
        <p:spPr>
          <a:xfrm>
            <a:off x="8460766" y="3286522"/>
            <a:ext cx="3075704" cy="235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Recursos Ineficientes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h21647e8e418c3f67_6_127"/>
          <p:cNvSpPr/>
          <p:nvPr/>
        </p:nvSpPr>
        <p:spPr>
          <a:xfrm>
            <a:off x="8460766" y="3641824"/>
            <a:ext cx="3075704" cy="432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Impide optimizar los recursos económicos destinados a tecnología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9" name="Google Shape;809;h21647e8e418c3f67_6_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87" y="4319439"/>
            <a:ext cx="225915" cy="225921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h21647e8e418c3f67_6_127"/>
          <p:cNvSpPr/>
          <p:nvPr/>
        </p:nvSpPr>
        <p:spPr>
          <a:xfrm>
            <a:off x="8460766" y="4314825"/>
            <a:ext cx="3075704" cy="235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Inversiones sin Prioridad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h21647e8e418c3f67_6_127"/>
          <p:cNvSpPr/>
          <p:nvPr/>
        </p:nvSpPr>
        <p:spPr>
          <a:xfrm>
            <a:off x="8460766" y="4670127"/>
            <a:ext cx="3075704" cy="432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Dificulta priorizar inversiones alineadas con los objetivos del negocio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2" name="Google Shape;812;h21647e8e418c3f67_6_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87" y="5347742"/>
            <a:ext cx="225915" cy="225921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h21647e8e418c3f67_6_127"/>
          <p:cNvSpPr/>
          <p:nvPr/>
        </p:nvSpPr>
        <p:spPr>
          <a:xfrm>
            <a:off x="8460766" y="5343128"/>
            <a:ext cx="3075704" cy="235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Medium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Continuidad Comprometida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h21647e8e418c3f67_6_127"/>
          <p:cNvSpPr/>
          <p:nvPr/>
        </p:nvSpPr>
        <p:spPr>
          <a:xfrm>
            <a:off x="8460766" y="5698430"/>
            <a:ext cx="3075704" cy="432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Compromete la continuidad y seguridad de los servicios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h21647e8e418c3f67_6_127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h21647e8e418c3f67_6_145"/>
          <p:cNvSpPr/>
          <p:nvPr/>
        </p:nvSpPr>
        <p:spPr>
          <a:xfrm>
            <a:off x="661475" y="1102618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Roboto Medium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Recomendaciones Prioritarias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h21647e8e418c3f67_6_145"/>
          <p:cNvSpPr/>
          <p:nvPr/>
        </p:nvSpPr>
        <p:spPr>
          <a:xfrm>
            <a:off x="661475" y="2071291"/>
            <a:ext cx="378014" cy="23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Light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Light"/>
                <a:ea typeface="Roboto Light"/>
                <a:cs typeface="Roboto Light"/>
                <a:sym typeface="Roboto Light"/>
              </a:rPr>
              <a:t>01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h21647e8e418c3f67_6_145"/>
          <p:cNvSpPr/>
          <p:nvPr/>
        </p:nvSpPr>
        <p:spPr>
          <a:xfrm>
            <a:off x="661475" y="2367161"/>
            <a:ext cx="3496877" cy="2540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h21647e8e418c3f67_6_145"/>
          <p:cNvSpPr/>
          <p:nvPr/>
        </p:nvSpPr>
        <p:spPr>
          <a:xfrm>
            <a:off x="661475" y="2512417"/>
            <a:ext cx="349687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Plan Estratégico de TI (PETI)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h21647e8e418c3f67_6_145"/>
          <p:cNvSpPr/>
          <p:nvPr/>
        </p:nvSpPr>
        <p:spPr>
          <a:xfrm>
            <a:off x="661475" y="2921099"/>
            <a:ext cx="3496877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Elaborar un Plan Estratégico de TI (PETI) alineado con la misión y visión de la empresa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h21647e8e418c3f67_6_145"/>
          <p:cNvSpPr/>
          <p:nvPr/>
        </p:nvSpPr>
        <p:spPr>
          <a:xfrm>
            <a:off x="4347359" y="2071291"/>
            <a:ext cx="378014" cy="23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Light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Light"/>
                <a:ea typeface="Roboto Light"/>
                <a:cs typeface="Roboto Light"/>
                <a:sym typeface="Roboto Light"/>
              </a:rPr>
              <a:t>02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h21647e8e418c3f67_6_145"/>
          <p:cNvSpPr/>
          <p:nvPr/>
        </p:nvSpPr>
        <p:spPr>
          <a:xfrm>
            <a:off x="4347359" y="2367161"/>
            <a:ext cx="3496877" cy="2540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h21647e8e418c3f67_6_145"/>
          <p:cNvSpPr/>
          <p:nvPr/>
        </p:nvSpPr>
        <p:spPr>
          <a:xfrm>
            <a:off x="4347359" y="2512417"/>
            <a:ext cx="349687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Presupuesto Informático Anual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h21647e8e418c3f67_6_145"/>
          <p:cNvSpPr/>
          <p:nvPr/>
        </p:nvSpPr>
        <p:spPr>
          <a:xfrm>
            <a:off x="4347359" y="2921099"/>
            <a:ext cx="3496877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Crear un presupuesto informático anual separado que incluya licencias, servicios cloud, telecomunicaciones y equipos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h21647e8e418c3f67_6_145"/>
          <p:cNvSpPr/>
          <p:nvPr/>
        </p:nvSpPr>
        <p:spPr>
          <a:xfrm>
            <a:off x="8033244" y="2071291"/>
            <a:ext cx="378014" cy="23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Light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Light"/>
                <a:ea typeface="Roboto Light"/>
                <a:cs typeface="Roboto Light"/>
                <a:sym typeface="Roboto Light"/>
              </a:rPr>
              <a:t>03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h21647e8e418c3f67_6_145"/>
          <p:cNvSpPr/>
          <p:nvPr/>
        </p:nvSpPr>
        <p:spPr>
          <a:xfrm>
            <a:off x="8033244" y="2367161"/>
            <a:ext cx="3496877" cy="2540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h21647e8e418c3f67_6_145"/>
          <p:cNvSpPr/>
          <p:nvPr/>
        </p:nvSpPr>
        <p:spPr>
          <a:xfrm>
            <a:off x="8033244" y="2512417"/>
            <a:ext cx="349687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Plan de Adquisiciones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h21647e8e418c3f67_6_145"/>
          <p:cNvSpPr/>
          <p:nvPr/>
        </p:nvSpPr>
        <p:spPr>
          <a:xfrm>
            <a:off x="8033244" y="2921099"/>
            <a:ext cx="3496877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Diseñar un plan de adquisiciones y renovación tecnológica basado en el ciclo de vida de los equipos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h21647e8e418c3f67_6_145"/>
          <p:cNvSpPr/>
          <p:nvPr/>
        </p:nvSpPr>
        <p:spPr>
          <a:xfrm>
            <a:off x="661475" y="4159052"/>
            <a:ext cx="378014" cy="23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Light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Light"/>
                <a:ea typeface="Roboto Light"/>
                <a:cs typeface="Roboto Light"/>
                <a:sym typeface="Roboto Light"/>
              </a:rPr>
              <a:t>04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h21647e8e418c3f67_6_145"/>
          <p:cNvSpPr/>
          <p:nvPr/>
        </p:nvSpPr>
        <p:spPr>
          <a:xfrm>
            <a:off x="661475" y="4454922"/>
            <a:ext cx="5339820" cy="2540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h21647e8e418c3f67_6_145"/>
          <p:cNvSpPr/>
          <p:nvPr/>
        </p:nvSpPr>
        <p:spPr>
          <a:xfrm>
            <a:off x="661475" y="4600178"/>
            <a:ext cx="533982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Indicadores de Desempeño (KPIs)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h21647e8e418c3f67_6_145"/>
          <p:cNvSpPr/>
          <p:nvPr/>
        </p:nvSpPr>
        <p:spPr>
          <a:xfrm>
            <a:off x="661475" y="5008860"/>
            <a:ext cx="5339820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Establecer indicadores de desempeño (KPIs) para medir el cumplimiento del plan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h21647e8e418c3f67_6_145"/>
          <p:cNvSpPr/>
          <p:nvPr/>
        </p:nvSpPr>
        <p:spPr>
          <a:xfrm>
            <a:off x="6190301" y="4159052"/>
            <a:ext cx="378014" cy="23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 Light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 Light"/>
                <a:ea typeface="Roboto Light"/>
                <a:cs typeface="Roboto Light"/>
                <a:sym typeface="Roboto Light"/>
              </a:rPr>
              <a:t>05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h21647e8e418c3f67_6_145"/>
          <p:cNvSpPr/>
          <p:nvPr/>
        </p:nvSpPr>
        <p:spPr>
          <a:xfrm>
            <a:off x="6190301" y="4454922"/>
            <a:ext cx="5339820" cy="2540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h21647e8e418c3f67_6_145"/>
          <p:cNvSpPr/>
          <p:nvPr/>
        </p:nvSpPr>
        <p:spPr>
          <a:xfrm>
            <a:off x="6190301" y="4600178"/>
            <a:ext cx="533982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 Medium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Gestión de Proyectos Tecnológicos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h21647e8e418c3f67_6_145"/>
          <p:cNvSpPr/>
          <p:nvPr/>
        </p:nvSpPr>
        <p:spPr>
          <a:xfrm>
            <a:off x="6190301" y="5008860"/>
            <a:ext cx="5339820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Formalizar la gestión de proyectos tecnológicos mediante una metodología estructurada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h21647e8e418c3f67_6_145"/>
          <p:cNvSpPr/>
          <p:nvPr/>
        </p:nvSpPr>
        <p:spPr>
          <a:xfrm>
            <a:off x="11041975" y="6533150"/>
            <a:ext cx="1149600" cy="324900"/>
          </a:xfrm>
          <a:prstGeom prst="rect">
            <a:avLst/>
          </a:prstGeom>
          <a:solidFill>
            <a:srgbClr val="000019"/>
          </a:solidFill>
          <a:ln cap="flat" cmpd="sng" w="9525">
            <a:solidFill>
              <a:srgbClr val="00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2026-09-24T16:58:24Z</dcterms:created>
</cp:coreProperties>
</file>