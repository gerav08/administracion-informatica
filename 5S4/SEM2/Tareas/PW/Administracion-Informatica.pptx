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Montserrat"/>
      <p:bold r:id="rId15"/>
      <p:boldItalic r:id="rId16"/>
    </p:embeddedFont>
    <p:embeddedFont>
      <p:font typeface="Montserrat Medium"/>
      <p:regular r:id="rId17"/>
      <p:bold r:id="rId18"/>
      <p:italic r:id="rId19"/>
      <p:boldItalic r:id="rId20"/>
    </p:embeddedFont>
    <p:embeddedFont>
      <p:font typeface="Brygada 1918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GLe0kXG+owF+ZLjd5oa6zCjaK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Italic.fntdata"/><Relationship Id="rId11" Type="http://schemas.openxmlformats.org/officeDocument/2006/relationships/slide" Target="slides/slide7.xml"/><Relationship Id="rId22" Type="http://schemas.openxmlformats.org/officeDocument/2006/relationships/font" Target="fonts/Brygada1918-boldItalic.fntdata"/><Relationship Id="rId10" Type="http://schemas.openxmlformats.org/officeDocument/2006/relationships/slide" Target="slides/slide6.xml"/><Relationship Id="rId21" Type="http://schemas.openxmlformats.org/officeDocument/2006/relationships/font" Target="fonts/Brygada1918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slide" Target="slides/slide10.xml"/><Relationship Id="rId17" Type="http://schemas.openxmlformats.org/officeDocument/2006/relationships/font" Target="fonts/MontserratMedium-regular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Medium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9005" y="499963"/>
            <a:ext cx="4393396" cy="585807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624368" y="2322016"/>
            <a:ext cx="6371073" cy="118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700"/>
              <a:buFont typeface="Brygada 1918"/>
              <a:buNone/>
            </a:pPr>
            <a:r>
              <a:rPr b="1" i="0" lang="en-US" sz="37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Administración Informática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24368" y="3778845"/>
            <a:ext cx="6980658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Unidad I — Análisis organizacional de 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24368" y="4264918"/>
            <a:ext cx="3092373" cy="271066"/>
          </a:xfrm>
          <a:prstGeom prst="roundRect">
            <a:avLst>
              <a:gd fmla="val 7898" name="adj"/>
            </a:avLst>
          </a:prstGeom>
          <a:solidFill>
            <a:srgbClr val="4D1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31323" y="4318397"/>
            <a:ext cx="3488047" cy="164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100"/>
              <a:buFont typeface="Montserrat Medium"/>
              <a:buNone/>
            </a:pPr>
            <a:r>
              <a:rPr b="0" i="0" lang="en-US" sz="11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AGOSTO 2026 · MANAGUA, NICARAGUA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95" y="499963"/>
            <a:ext cx="4393396" cy="585807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5196254" y="1130895"/>
            <a:ext cx="6371073" cy="118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700"/>
              <a:buFont typeface="Brygada 1918"/>
              <a:buNone/>
            </a:pPr>
            <a:r>
              <a:rPr b="1" i="0" lang="en-US" sz="37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1.1 Ubicación de TI en la Estructura Organizacional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196254" y="2587724"/>
            <a:ext cx="3096341" cy="1914525"/>
          </a:xfrm>
          <a:prstGeom prst="roundRect">
            <a:avLst>
              <a:gd fmla="val 1398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374644" y="2766120"/>
            <a:ext cx="2739560" cy="59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Cooperativa Unión Solidaria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374644" y="3467795"/>
            <a:ext cx="2739560" cy="85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 reporta a Finanzas. Sin CIO. Decisiones con lógica financiera.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470986" y="2587724"/>
            <a:ext cx="3096341" cy="1914525"/>
          </a:xfrm>
          <a:prstGeom prst="roundRect">
            <a:avLst>
              <a:gd fmla="val 1398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649377" y="2766120"/>
            <a:ext cx="2739560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Central Legal Advisors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649377" y="3170436"/>
            <a:ext cx="2739560" cy="57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 subordinada a Operaciones. Sin autoridad formal.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196254" y="4680645"/>
            <a:ext cx="6371073" cy="1046460"/>
          </a:xfrm>
          <a:prstGeom prst="roundRect">
            <a:avLst>
              <a:gd fmla="val 255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374644" y="4859040"/>
            <a:ext cx="6014292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Riesgos Clave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74644" y="5263356"/>
            <a:ext cx="6014292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Shadow IT, deuda técnica, innovación frenada.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624368" y="490637"/>
            <a:ext cx="10942959" cy="3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2000"/>
              <a:buFont typeface="Brygada 1918"/>
              <a:buNone/>
            </a:pPr>
            <a:r>
              <a:rPr b="1" i="0" lang="en-US" sz="20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Arquetipos de Gobierno de TI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68" y="955774"/>
            <a:ext cx="5352519" cy="535265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6221158" y="3237508"/>
            <a:ext cx="5352519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1000"/>
              <a:buFont typeface="Brygada 1918"/>
              <a:buNone/>
            </a:pPr>
            <a:r>
              <a:rPr b="1" i="0" lang="en-US" sz="10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¿Cuál es el ideal?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221158" y="3453309"/>
            <a:ext cx="5352519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750"/>
              <a:buFont typeface="Montserrat Medium"/>
              <a:buNone/>
            </a:pPr>
            <a:r>
              <a:rPr b="0" i="0" lang="en-US" sz="7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modelo </a:t>
            </a:r>
            <a:r>
              <a:rPr b="1" i="0" lang="en-US" sz="750" u="none" cap="none" strike="noStrike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federal</a:t>
            </a:r>
            <a:r>
              <a:rPr b="0" i="0" lang="en-US" sz="7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combina control corporativo con agilidad local. Es posible tener innovación y control si se diseña con estándares centrales y autonomía controlada.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221158" y="3754636"/>
            <a:ext cx="5352519" cy="265311"/>
          </a:xfrm>
          <a:prstGeom prst="roundRect">
            <a:avLst>
              <a:gd fmla="val 5516" name="adj"/>
            </a:avLst>
          </a:prstGeom>
          <a:solidFill>
            <a:srgbClr val="80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8687" y="3842048"/>
            <a:ext cx="121937" cy="975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6538154" y="3826966"/>
            <a:ext cx="5547578" cy="1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ontserrat Medium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Central Legal Advisors opera como </a:t>
            </a:r>
            <a:r>
              <a:rPr b="1" i="0" lang="en-US" sz="7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monarquía de negocio</a:t>
            </a:r>
            <a:r>
              <a:rPr b="0" i="0" lang="en-US" sz="75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rasgos de anarquía local.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624368" y="1023541"/>
            <a:ext cx="10942959" cy="594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700"/>
              <a:buFont typeface="Brygada 1918"/>
              <a:buNone/>
            </a:pPr>
            <a:r>
              <a:rPr b="1" i="0" lang="en-US" sz="37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1.2 Necesidades de los Clientes de TI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68" y="2086471"/>
            <a:ext cx="3547180" cy="354726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4613060" y="2511921"/>
            <a:ext cx="6960616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Incidente vs. Necesidad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613060" y="2987675"/>
            <a:ext cx="6960616" cy="101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Incidente:</a:t>
            </a: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"El sistema no abre." Apaga incendios.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Necesidad:</a:t>
            </a: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"Necesito registrar solicitudes desde sucursal sin depender de Excel." Transforma el servicio.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613060" y="4204990"/>
            <a:ext cx="6960616" cy="980877"/>
          </a:xfrm>
          <a:prstGeom prst="roundRect">
            <a:avLst>
              <a:gd fmla="val 2728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1451" y="4474964"/>
            <a:ext cx="222939" cy="17839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5192781" y="4410075"/>
            <a:ext cx="6202505" cy="57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Shadow IT genera: pérdida de control, fuga de datos, sanciones legales.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95" y="499963"/>
            <a:ext cx="4393396" cy="585807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5196254" y="1030883"/>
            <a:ext cx="6371073" cy="594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700"/>
              <a:buFont typeface="Brygada 1918"/>
              <a:buNone/>
            </a:pPr>
            <a:r>
              <a:rPr b="1" i="0" lang="en-US" sz="37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Caso: Librería Collados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6254" y="1893094"/>
            <a:ext cx="6371073" cy="10972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5501641" y="2096889"/>
            <a:ext cx="5861896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Frustración Principal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501641" y="2501205"/>
            <a:ext cx="5861896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Sin integración entre cyber y librería. Registro manual en Excel.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6254" y="3168749"/>
            <a:ext cx="6371073" cy="10972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5501641" y="3372545"/>
            <a:ext cx="5861896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Herramientas No Oficiales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501641" y="3776861"/>
            <a:ext cx="5861896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WhatsApp personal, Google Sheets, cámara del teléfono.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6254" y="4444405"/>
            <a:ext cx="6371073" cy="138261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5501641" y="4648200"/>
            <a:ext cx="5861896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Solución Propuesta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501641" y="5052516"/>
            <a:ext cx="5861896" cy="57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 en la nube integrado: facturación, inventario, respaldo automático.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624368" y="1939528"/>
            <a:ext cx="10942959" cy="594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700"/>
              <a:buFont typeface="Brygada 1918"/>
              <a:buNone/>
            </a:pPr>
            <a:r>
              <a:rPr b="1" i="0" lang="en-US" sz="37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1.3 Misión y Visión de la Unidad Informática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24368" y="2980134"/>
            <a:ext cx="5253898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Cooperativa Unión Solidaria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24368" y="3455888"/>
            <a:ext cx="5253898" cy="1301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Misión TI:</a:t>
            </a: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Habilitar servicios financieros digitales seguros que amplíen el acceso de socios.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5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Visión TI:</a:t>
            </a: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Ser socio estratégico, impulsor de inclusión digital para 2030.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319779" y="2980134"/>
            <a:ext cx="5253898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¿Por qué alinear?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319779" y="3455888"/>
            <a:ext cx="5253898" cy="1328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350">
            <a:normAutofit/>
          </a:bodyPr>
          <a:lstStyle/>
          <a:p>
            <a:pPr indent="-284480" lvl="0" marL="28448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Char char="•"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Objetivos contradictorios sin alineación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Char char="•"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Recursos desperdiciados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Char char="•"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Resistencia de usuarios → shadow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Char char="•"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Indicadores técnicos, no institucionales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95" y="499963"/>
            <a:ext cx="4393396" cy="585807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5196254" y="788888"/>
            <a:ext cx="6371073" cy="118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700"/>
              <a:buFont typeface="Brygada 1918"/>
              <a:buNone/>
            </a:pPr>
            <a:r>
              <a:rPr b="1" i="0" lang="en-US" sz="37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1.4 Infraestructura Tecnológica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196254" y="2334915"/>
            <a:ext cx="3074018" cy="588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4600"/>
              <a:buFont typeface="Brygada 1918"/>
              <a:buNone/>
            </a:pPr>
            <a:r>
              <a:rPr b="1" i="0" lang="en-US" sz="46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7+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196254" y="3146623"/>
            <a:ext cx="3074018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Años en servidores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196254" y="3550940"/>
            <a:ext cx="3074018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Obsolescencia crítica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8493210" y="2334915"/>
            <a:ext cx="3074117" cy="588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4600"/>
              <a:buFont typeface="Brygada 1918"/>
              <a:buNone/>
            </a:pPr>
            <a:r>
              <a:rPr b="1" i="0" lang="en-US" sz="46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493210" y="3146623"/>
            <a:ext cx="3074117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Estrategia de nube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493210" y="3550940"/>
            <a:ext cx="3074117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Dependencia local total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844732" y="4282281"/>
            <a:ext cx="3074018" cy="588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4600"/>
              <a:buFont typeface="Brygada 1918"/>
              <a:buNone/>
            </a:pPr>
            <a:r>
              <a:rPr b="1" i="0" lang="en-US" sz="46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3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844732" y="5093990"/>
            <a:ext cx="3074018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Recomendaciones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844732" y="5498306"/>
            <a:ext cx="3074018" cy="57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Migrar IaaS, rediseñar app, plan de respaldo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624368" y="496391"/>
            <a:ext cx="10942959" cy="4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000"/>
              <a:buFont typeface="Brygada 1918"/>
              <a:buNone/>
            </a:pPr>
            <a:r>
              <a:rPr b="1" i="0" lang="en-US" sz="30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1.5 Hoja de Ruta Tecnológica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68" y="1215132"/>
            <a:ext cx="10942959" cy="48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/>
          <p:nvPr/>
        </p:nvSpPr>
        <p:spPr>
          <a:xfrm>
            <a:off x="2480715" y="4661789"/>
            <a:ext cx="1918195" cy="31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1950"/>
              <a:buFont typeface="Brygada 1918"/>
              <a:buNone/>
            </a:pPr>
            <a:r>
              <a:rPr b="1" i="0" lang="en-US" sz="19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Estabilizar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2480715" y="5062301"/>
            <a:ext cx="1918195" cy="429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Renovar servidores y SLAs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866418" y="4373097"/>
            <a:ext cx="1918195" cy="31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1950"/>
              <a:buFont typeface="Brygada 1918"/>
              <a:buNone/>
            </a:pPr>
            <a:r>
              <a:rPr b="1" i="0" lang="en-US" sz="19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Transformar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7866418" y="4773609"/>
            <a:ext cx="1918195" cy="64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Analítica de socios y onboarding digital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189376" y="1718880"/>
            <a:ext cx="1918196" cy="316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1950"/>
              <a:buFont typeface="Brygada 1918"/>
              <a:buNone/>
            </a:pPr>
            <a:r>
              <a:rPr b="1" i="0" lang="en-US" sz="19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Optimizar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189376" y="2119392"/>
            <a:ext cx="1918196" cy="64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Rediseñar app y captura documental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24368" y="6151364"/>
            <a:ext cx="11552544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100"/>
              <a:buFont typeface="Montserrat Medium"/>
              <a:buNone/>
            </a:pPr>
            <a:r>
              <a:rPr b="0" i="0" lang="en-US" sz="11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Primero se estabiliza la infraestructura, luego se optimiza la experiencia del socio, finalmente se transforma el modelo con analítica y automatización.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624368" y="490637"/>
            <a:ext cx="10942959" cy="3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2000"/>
              <a:buFont typeface="Brygada 1918"/>
              <a:buNone/>
            </a:pPr>
            <a:r>
              <a:rPr b="1" i="0" lang="en-US" sz="20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1.6 Cuadro de Mando de Impacto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68" y="955774"/>
            <a:ext cx="5352519" cy="535265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/>
          <p:nvPr/>
        </p:nvSpPr>
        <p:spPr>
          <a:xfrm>
            <a:off x="6221158" y="3237508"/>
            <a:ext cx="5352519" cy="16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1000"/>
              <a:buFont typeface="Brygada 1918"/>
              <a:buNone/>
            </a:pPr>
            <a:r>
              <a:rPr b="1" i="0" lang="en-US" sz="10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¿Por qué no basta medir solo disponibilidad?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221158" y="3453309"/>
            <a:ext cx="5962104" cy="1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750"/>
              <a:buFont typeface="Montserrat Medium"/>
              <a:buNone/>
            </a:pPr>
            <a:r>
              <a:rPr b="0" i="0" lang="en-US" sz="7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servidor puede estar disponible 100% y aun así no generar valor si la app es difícil de usar.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221158" y="3633986"/>
            <a:ext cx="5352519" cy="385961"/>
          </a:xfrm>
          <a:prstGeom prst="roundRect">
            <a:avLst>
              <a:gd fmla="val 3792" name="adj"/>
            </a:avLst>
          </a:prstGeom>
          <a:solidFill>
            <a:srgbClr val="802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8687" y="3721398"/>
            <a:ext cx="121937" cy="9753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/>
          <p:nvPr/>
        </p:nvSpPr>
        <p:spPr>
          <a:xfrm>
            <a:off x="6538154" y="3706316"/>
            <a:ext cx="4937994" cy="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Montserrat Medium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indicadores deben verificar si la </a:t>
            </a:r>
            <a:r>
              <a:rPr b="1" i="0" lang="en-US" sz="7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misión de TI</a:t>
            </a:r>
            <a:r>
              <a:rPr b="0" i="0" lang="en-US" sz="75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se está cumpliendo, no solo si "el sistema funciona".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95" y="499963"/>
            <a:ext cx="4393396" cy="585807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0"/>
          <p:cNvSpPr/>
          <p:nvPr/>
        </p:nvSpPr>
        <p:spPr>
          <a:xfrm>
            <a:off x="5196254" y="940693"/>
            <a:ext cx="6371073" cy="594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700"/>
              <a:buFont typeface="Brygada 1918"/>
              <a:buNone/>
            </a:pPr>
            <a:r>
              <a:rPr b="1" i="0" lang="en-US" sz="37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Conclusiones Unidad I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125" y="1808361"/>
            <a:ext cx="267586" cy="26759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/>
          <p:nvPr/>
        </p:nvSpPr>
        <p:spPr>
          <a:xfrm>
            <a:off x="5776073" y="1802904"/>
            <a:ext cx="5791254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Reubicar TI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776073" y="2207220"/>
            <a:ext cx="5791254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Crear Gerencia de TI con CIO reportando a Dirección General.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125" y="2854821"/>
            <a:ext cx="267586" cy="26759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5776073" y="2849364"/>
            <a:ext cx="5791254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Escuchar necesidades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776073" y="3253680"/>
            <a:ext cx="5791254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Entender resultados del cliente, no solo resolver tickets.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125" y="3901281"/>
            <a:ext cx="267586" cy="26759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/>
          <p:nvPr/>
        </p:nvSpPr>
        <p:spPr>
          <a:xfrm>
            <a:off x="5776073" y="3895824"/>
            <a:ext cx="5791254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Alinear misión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776073" y="4300141"/>
            <a:ext cx="5791254" cy="57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 como habilitadora estratégica, no administradora de computadoras.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125" y="5233095"/>
            <a:ext cx="267586" cy="2675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/>
          <p:nvPr/>
        </p:nvSpPr>
        <p:spPr>
          <a:xfrm>
            <a:off x="5776073" y="5227638"/>
            <a:ext cx="5791254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850"/>
              <a:buFont typeface="Brygada 1918"/>
              <a:buNone/>
            </a:pPr>
            <a:r>
              <a:rPr b="1" i="0" lang="en-US" sz="18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Medir impacto real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776073" y="5631954"/>
            <a:ext cx="5791254" cy="285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Montserrat Medium"/>
              <a:buNone/>
            </a:pPr>
            <a:r>
              <a:rPr b="0" i="0" lang="en-US" sz="140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Satisfacción, adopción digital, cumplimiento normativo.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1072075" y="6560700"/>
            <a:ext cx="1119600" cy="297300"/>
          </a:xfrm>
          <a:prstGeom prst="rect">
            <a:avLst/>
          </a:prstGeom>
          <a:solidFill>
            <a:srgbClr val="5C2438"/>
          </a:solidFill>
          <a:ln cap="flat" cmpd="sng" w="9525">
            <a:solidFill>
              <a:srgbClr val="5C2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2026-08-23T16:59:04Z</dcterms:created>
</cp:coreProperties>
</file>